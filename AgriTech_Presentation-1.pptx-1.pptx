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(MS)" panose="020B0604020202020204" charset="0"/>
      <p:regular r:id="rId18"/>
    </p:embeddedFont>
    <p:embeddedFont>
      <p:font typeface="Calibri (MS) Bold" panose="020B0604020202020204" charset="0"/>
      <p:regular r:id="rId19"/>
    </p:embeddedFont>
    <p:embeddedFont>
      <p:font typeface="Calibri (MS) Italics" panose="020B0604020202020204" charset="0"/>
      <p:regular r:id="rId20"/>
    </p:embeddedFont>
    <p:embeddedFont>
      <p:font typeface="Cambria Bold" panose="02040803050406030204" pitchFamily="18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70080" y="-2194560"/>
            <a:ext cx="9144000" cy="9144000"/>
            <a:chOff x="0" y="0"/>
            <a:chExt cx="12192000" cy="1219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12192000"/>
            </a:xfrm>
            <a:custGeom>
              <a:avLst/>
              <a:gdLst/>
              <a:ahLst/>
              <a:cxnLst/>
              <a:rect l="l" t="t" r="r" b="b"/>
              <a:pathLst>
                <a:path w="12192000" h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447520" y="5303520"/>
            <a:ext cx="5852160" cy="5852160"/>
            <a:chOff x="0" y="0"/>
            <a:chExt cx="7802880" cy="78028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802880" cy="7802880"/>
            </a:xfrm>
            <a:custGeom>
              <a:avLst/>
              <a:gdLst/>
              <a:ahLst/>
              <a:cxnLst/>
              <a:rect l="l" t="t" r="r" b="b"/>
              <a:pathLst>
                <a:path w="7802880" h="7802880">
                  <a:moveTo>
                    <a:pt x="0" y="3901440"/>
                  </a:moveTo>
                  <a:cubicBezTo>
                    <a:pt x="0" y="1746758"/>
                    <a:pt x="1746758" y="0"/>
                    <a:pt x="3901440" y="0"/>
                  </a:cubicBezTo>
                  <a:cubicBezTo>
                    <a:pt x="6056123" y="0"/>
                    <a:pt x="7802880" y="1746758"/>
                    <a:pt x="7802880" y="3901440"/>
                  </a:cubicBezTo>
                  <a:cubicBezTo>
                    <a:pt x="7802880" y="6056123"/>
                    <a:pt x="6056122" y="7802880"/>
                    <a:pt x="3901440" y="7802880"/>
                  </a:cubicBezTo>
                  <a:cubicBezTo>
                    <a:pt x="1746758" y="7802880"/>
                    <a:pt x="0" y="6056122"/>
                    <a:pt x="0" y="3901440"/>
                  </a:cubicBezTo>
                  <a:close/>
                </a:path>
              </a:pathLst>
            </a:custGeom>
            <a:solidFill>
              <a:srgbClr val="9BD77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97280" y="967740"/>
            <a:ext cx="109728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600">
                <a:solidFill>
                  <a:srgbClr val="9BD77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 TO EMBEDDED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7280" y="1819275"/>
            <a:ext cx="13167360" cy="256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68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Smart Automated Agricultural Control &amp; Telemetry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7280" y="4413885"/>
            <a:ext cx="12801600" cy="798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i="1">
                <a:solidFill>
                  <a:srgbClr val="F2B13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with Edge AI and Telegram Integration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7280" y="5694045"/>
            <a:ext cx="9144000" cy="6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9BD77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AgriTech Innovators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97280" y="6583680"/>
            <a:ext cx="7680960" cy="877824"/>
            <a:chOff x="0" y="0"/>
            <a:chExt cx="10241280" cy="1170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241280" cy="1170432"/>
            </a:xfrm>
            <a:custGeom>
              <a:avLst/>
              <a:gdLst/>
              <a:ahLst/>
              <a:cxnLst/>
              <a:rect l="l" t="t" r="r" b="b"/>
              <a:pathLst>
                <a:path w="10241280" h="117043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9997440" y="0"/>
                  </a:lnTo>
                  <a:cubicBezTo>
                    <a:pt x="10132060" y="0"/>
                    <a:pt x="10241280" y="109220"/>
                    <a:pt x="10241280" y="243840"/>
                  </a:cubicBezTo>
                  <a:lnTo>
                    <a:pt x="10241280" y="926592"/>
                  </a:lnTo>
                  <a:cubicBezTo>
                    <a:pt x="10241280" y="1061212"/>
                    <a:pt x="10132060" y="1170432"/>
                    <a:pt x="9997440" y="1170432"/>
                  </a:cubicBezTo>
                  <a:lnTo>
                    <a:pt x="243840" y="1170432"/>
                  </a:lnTo>
                  <a:cubicBezTo>
                    <a:pt x="109220" y="1170432"/>
                    <a:pt x="0" y="1061212"/>
                    <a:pt x="0" y="92659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371600" y="6583680"/>
            <a:ext cx="7315200" cy="877824"/>
            <a:chOff x="0" y="0"/>
            <a:chExt cx="9753600" cy="1170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753600" cy="1170432"/>
            </a:xfrm>
            <a:custGeom>
              <a:avLst/>
              <a:gdLst/>
              <a:ahLst/>
              <a:cxnLst/>
              <a:rect l="l" t="t" r="r" b="b"/>
              <a:pathLst>
                <a:path w="9753600" h="1170432">
                  <a:moveTo>
                    <a:pt x="0" y="0"/>
                  </a:moveTo>
                  <a:lnTo>
                    <a:pt x="9753600" y="0"/>
                  </a:lnTo>
                  <a:lnTo>
                    <a:pt x="9753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9753600" cy="12275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3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Mohammad Fahim</a:t>
              </a:r>
              <a:r>
                <a:rPr lang="en-US" sz="2399">
                  <a:solidFill>
                    <a:srgbClr val="9BD7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2023200000399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6583680"/>
            <a:ext cx="7680960" cy="877824"/>
            <a:chOff x="0" y="0"/>
            <a:chExt cx="10241280" cy="1170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41280" cy="1170432"/>
            </a:xfrm>
            <a:custGeom>
              <a:avLst/>
              <a:gdLst/>
              <a:ahLst/>
              <a:cxnLst/>
              <a:rect l="l" t="t" r="r" b="b"/>
              <a:pathLst>
                <a:path w="10241280" h="117043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9997440" y="0"/>
                  </a:lnTo>
                  <a:cubicBezTo>
                    <a:pt x="10132060" y="0"/>
                    <a:pt x="10241280" y="109220"/>
                    <a:pt x="10241280" y="243840"/>
                  </a:cubicBezTo>
                  <a:lnTo>
                    <a:pt x="10241280" y="926592"/>
                  </a:lnTo>
                  <a:cubicBezTo>
                    <a:pt x="10241280" y="1061212"/>
                    <a:pt x="10132060" y="1170432"/>
                    <a:pt x="9997440" y="1170432"/>
                  </a:cubicBezTo>
                  <a:lnTo>
                    <a:pt x="243840" y="1170432"/>
                  </a:lnTo>
                  <a:cubicBezTo>
                    <a:pt x="109220" y="1170432"/>
                    <a:pt x="0" y="1061212"/>
                    <a:pt x="0" y="92659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418320" y="6583680"/>
            <a:ext cx="7315200" cy="877824"/>
            <a:chOff x="0" y="0"/>
            <a:chExt cx="9753600" cy="117043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753600" cy="1170432"/>
            </a:xfrm>
            <a:custGeom>
              <a:avLst/>
              <a:gdLst/>
              <a:ahLst/>
              <a:cxnLst/>
              <a:rect l="l" t="t" r="r" b="b"/>
              <a:pathLst>
                <a:path w="9753600" h="1170432">
                  <a:moveTo>
                    <a:pt x="0" y="0"/>
                  </a:moveTo>
                  <a:lnTo>
                    <a:pt x="9753600" y="0"/>
                  </a:lnTo>
                  <a:lnTo>
                    <a:pt x="9753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9753600" cy="12275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3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Fahad Ahmed</a:t>
              </a:r>
              <a:r>
                <a:rPr lang="en-US" sz="2399">
                  <a:solidFill>
                    <a:srgbClr val="9BD7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2023200000371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97280" y="7680960"/>
            <a:ext cx="7680960" cy="877824"/>
            <a:chOff x="0" y="0"/>
            <a:chExt cx="10241280" cy="117043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241280" cy="1170432"/>
            </a:xfrm>
            <a:custGeom>
              <a:avLst/>
              <a:gdLst/>
              <a:ahLst/>
              <a:cxnLst/>
              <a:rect l="l" t="t" r="r" b="b"/>
              <a:pathLst>
                <a:path w="10241280" h="117043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9997440" y="0"/>
                  </a:lnTo>
                  <a:cubicBezTo>
                    <a:pt x="10132060" y="0"/>
                    <a:pt x="10241280" y="109220"/>
                    <a:pt x="10241280" y="243840"/>
                  </a:cubicBezTo>
                  <a:lnTo>
                    <a:pt x="10241280" y="926592"/>
                  </a:lnTo>
                  <a:cubicBezTo>
                    <a:pt x="10241280" y="1061212"/>
                    <a:pt x="10132060" y="1170432"/>
                    <a:pt x="9997440" y="1170432"/>
                  </a:cubicBezTo>
                  <a:lnTo>
                    <a:pt x="243840" y="1170432"/>
                  </a:lnTo>
                  <a:cubicBezTo>
                    <a:pt x="109220" y="1170432"/>
                    <a:pt x="0" y="1061212"/>
                    <a:pt x="0" y="92659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371600" y="7680960"/>
            <a:ext cx="7315200" cy="877824"/>
            <a:chOff x="0" y="0"/>
            <a:chExt cx="9753600" cy="117043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753600" cy="1170432"/>
            </a:xfrm>
            <a:custGeom>
              <a:avLst/>
              <a:gdLst/>
              <a:ahLst/>
              <a:cxnLst/>
              <a:rect l="l" t="t" r="r" b="b"/>
              <a:pathLst>
                <a:path w="9753600" h="1170432">
                  <a:moveTo>
                    <a:pt x="0" y="0"/>
                  </a:moveTo>
                  <a:lnTo>
                    <a:pt x="9753600" y="0"/>
                  </a:lnTo>
                  <a:lnTo>
                    <a:pt x="9753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9753600" cy="12085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Safayet Hossain Bhuiyan Munna</a:t>
              </a:r>
              <a:r>
                <a:rPr lang="en-US" sz="2400">
                  <a:solidFill>
                    <a:srgbClr val="9BD7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2023200000648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44000" y="7680960"/>
            <a:ext cx="7680960" cy="877824"/>
            <a:chOff x="0" y="0"/>
            <a:chExt cx="10241280" cy="117043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241280" cy="1170432"/>
            </a:xfrm>
            <a:custGeom>
              <a:avLst/>
              <a:gdLst/>
              <a:ahLst/>
              <a:cxnLst/>
              <a:rect l="l" t="t" r="r" b="b"/>
              <a:pathLst>
                <a:path w="10241280" h="117043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9997440" y="0"/>
                  </a:lnTo>
                  <a:cubicBezTo>
                    <a:pt x="10132060" y="0"/>
                    <a:pt x="10241280" y="109220"/>
                    <a:pt x="10241280" y="243840"/>
                  </a:cubicBezTo>
                  <a:lnTo>
                    <a:pt x="10241280" y="926592"/>
                  </a:lnTo>
                  <a:cubicBezTo>
                    <a:pt x="10241280" y="1061212"/>
                    <a:pt x="10132060" y="1170432"/>
                    <a:pt x="9997440" y="1170432"/>
                  </a:cubicBezTo>
                  <a:lnTo>
                    <a:pt x="243840" y="1170432"/>
                  </a:lnTo>
                  <a:cubicBezTo>
                    <a:pt x="109220" y="1170432"/>
                    <a:pt x="0" y="1061212"/>
                    <a:pt x="0" y="92659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9418320" y="7836481"/>
            <a:ext cx="7315200" cy="932543"/>
            <a:chOff x="0" y="0"/>
            <a:chExt cx="9753600" cy="124339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753600" cy="1243390"/>
            </a:xfrm>
            <a:custGeom>
              <a:avLst/>
              <a:gdLst/>
              <a:ahLst/>
              <a:cxnLst/>
              <a:rect l="l" t="t" r="r" b="b"/>
              <a:pathLst>
                <a:path w="9753600" h="1243390">
                  <a:moveTo>
                    <a:pt x="0" y="0"/>
                  </a:moveTo>
                  <a:lnTo>
                    <a:pt x="9753600" y="0"/>
                  </a:lnTo>
                  <a:lnTo>
                    <a:pt x="9753600" y="1243390"/>
                  </a:lnTo>
                  <a:lnTo>
                    <a:pt x="0" y="12433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781" b="-99913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9753600" cy="1300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Maria Iffat </a:t>
              </a:r>
              <a:r>
                <a:rPr lang="en-US" sz="2399">
                  <a:solidFill>
                    <a:srgbClr val="9BD7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2023200000366</a:t>
              </a:r>
            </a:p>
            <a:p>
              <a:pPr algn="l">
                <a:lnSpc>
                  <a:spcPts val="2639"/>
                </a:lnSpc>
              </a:pPr>
              <a:endParaRPr lang="en-US" sz="2399">
                <a:solidFill>
                  <a:srgbClr val="9BD77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97280" y="9105900"/>
            <a:ext cx="91440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B8CDBF"/>
                </a:solidFill>
                <a:latin typeface="Calibri (MS)"/>
                <a:ea typeface="Calibri (MS)"/>
                <a:cs typeface="Calibri (MS)"/>
                <a:sym typeface="Calibri (MS)"/>
              </a:rPr>
              <a:t>Batch 65  |  Southeast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640080"/>
            <a:ext cx="16093440" cy="1280160"/>
            <a:chOff x="0" y="0"/>
            <a:chExt cx="2145792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706880"/>
            </a:xfrm>
            <a:custGeom>
              <a:avLst/>
              <a:gdLst/>
              <a:ahLst/>
              <a:cxnLst/>
              <a:rect l="l" t="t" r="r" b="b"/>
              <a:pathLst>
                <a:path w="21457920" h="170688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4954" b="-19495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F3D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Introduction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97280" y="9471660"/>
            <a:ext cx="731520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E7266"/>
                </a:solidFill>
                <a:latin typeface="Calibri (MS)"/>
                <a:ea typeface="Calibri (MS)"/>
                <a:cs typeface="Calibri (MS)"/>
                <a:sym typeface="Calibri (MS)"/>
              </a:rPr>
              <a:t>AgriTech Innovators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459200" y="9471660"/>
            <a:ext cx="73152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E7266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2516" y="2373511"/>
            <a:ext cx="10063163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This is a smart farming system.</a:t>
            </a:r>
          </a:p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endParaRPr lang="en-US" sz="3000" dirty="0">
              <a:solidFill>
                <a:srgbClr val="23332B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It uses an ESP32 board and sensors.</a:t>
            </a:r>
          </a:p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endParaRPr lang="en-US" sz="3000" dirty="0">
              <a:solidFill>
                <a:srgbClr val="23332B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Sensors check soil, temperature, humidity and light, and a digital variable that works as a pH sensor.</a:t>
            </a:r>
          </a:p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endParaRPr lang="en-US" sz="3000" dirty="0">
              <a:solidFill>
                <a:srgbClr val="23332B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AI on the board checks sensor data and predicts crop health.</a:t>
            </a:r>
          </a:p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endParaRPr lang="en-US" sz="3000" dirty="0">
              <a:solidFill>
                <a:srgbClr val="23332B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It turns the water pump, fan, grow lights ON/OFF by itself.</a:t>
            </a:r>
          </a:p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endParaRPr lang="en-US" sz="3000" dirty="0">
              <a:solidFill>
                <a:srgbClr val="23332B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Farmers can control it from Telegram or a small screen.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338560" y="2377440"/>
            <a:ext cx="5852160" cy="1920240"/>
            <a:chOff x="0" y="0"/>
            <a:chExt cx="7802880" cy="2560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802880" cy="2560320"/>
            </a:xfrm>
            <a:custGeom>
              <a:avLst/>
              <a:gdLst/>
              <a:ahLst/>
              <a:cxnLst/>
              <a:rect l="l" t="t" r="r" b="b"/>
              <a:pathLst>
                <a:path w="7802880" h="25603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7510272" y="0"/>
                  </a:lnTo>
                  <a:cubicBezTo>
                    <a:pt x="7671943" y="0"/>
                    <a:pt x="7802880" y="131064"/>
                    <a:pt x="7802880" y="292608"/>
                  </a:cubicBezTo>
                  <a:lnTo>
                    <a:pt x="7802880" y="2267712"/>
                  </a:lnTo>
                  <a:cubicBezTo>
                    <a:pt x="7802880" y="2429383"/>
                    <a:pt x="7671816" y="2560320"/>
                    <a:pt x="7510272" y="2560320"/>
                  </a:cubicBezTo>
                  <a:lnTo>
                    <a:pt x="292608" y="2560320"/>
                  </a:lnTo>
                  <a:cubicBezTo>
                    <a:pt x="131064" y="2560320"/>
                    <a:pt x="0" y="2429256"/>
                    <a:pt x="0" y="2267712"/>
                  </a:cubicBezTo>
                  <a:close/>
                </a:path>
              </a:pathLst>
            </a:custGeom>
            <a:solidFill>
              <a:srgbClr val="0F3D2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1704320" y="2550795"/>
            <a:ext cx="5303520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1">
                <a:solidFill>
                  <a:srgbClr val="F2B134"/>
                </a:solidFill>
                <a:latin typeface="Cambria Bold"/>
                <a:ea typeface="Cambria Bold"/>
                <a:cs typeface="Cambria Bold"/>
                <a:sym typeface="Cambria Bold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04320" y="3528060"/>
            <a:ext cx="530352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CPU cores: AI and Wi-Fi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338560" y="4572000"/>
            <a:ext cx="5852160" cy="1920240"/>
            <a:chOff x="0" y="0"/>
            <a:chExt cx="7802880" cy="25603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802880" cy="2560320"/>
            </a:xfrm>
            <a:custGeom>
              <a:avLst/>
              <a:gdLst/>
              <a:ahLst/>
              <a:cxnLst/>
              <a:rect l="l" t="t" r="r" b="b"/>
              <a:pathLst>
                <a:path w="7802880" h="25603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7510272" y="0"/>
                  </a:lnTo>
                  <a:cubicBezTo>
                    <a:pt x="7671943" y="0"/>
                    <a:pt x="7802880" y="131064"/>
                    <a:pt x="7802880" y="292608"/>
                  </a:cubicBezTo>
                  <a:lnTo>
                    <a:pt x="7802880" y="2267712"/>
                  </a:lnTo>
                  <a:cubicBezTo>
                    <a:pt x="7802880" y="2429383"/>
                    <a:pt x="7671816" y="2560320"/>
                    <a:pt x="7510272" y="2560320"/>
                  </a:cubicBezTo>
                  <a:lnTo>
                    <a:pt x="292608" y="2560320"/>
                  </a:lnTo>
                  <a:cubicBezTo>
                    <a:pt x="131064" y="2560320"/>
                    <a:pt x="0" y="2429256"/>
                    <a:pt x="0" y="2267712"/>
                  </a:cubicBezTo>
                  <a:close/>
                </a:path>
              </a:pathLst>
            </a:custGeom>
            <a:solidFill>
              <a:srgbClr val="0F3D2E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1704320" y="4745355"/>
            <a:ext cx="5303520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1">
                <a:solidFill>
                  <a:srgbClr val="F2B134"/>
                </a:solidFill>
                <a:latin typeface="Cambria Bold"/>
                <a:ea typeface="Cambria Bold"/>
                <a:cs typeface="Cambria Bold"/>
                <a:sym typeface="Cambria Bold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04320" y="5722620"/>
            <a:ext cx="530352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Sensor types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338560" y="6766560"/>
            <a:ext cx="5852160" cy="1920240"/>
            <a:chOff x="0" y="0"/>
            <a:chExt cx="7802880" cy="25603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802880" cy="2560320"/>
            </a:xfrm>
            <a:custGeom>
              <a:avLst/>
              <a:gdLst/>
              <a:ahLst/>
              <a:cxnLst/>
              <a:rect l="l" t="t" r="r" b="b"/>
              <a:pathLst>
                <a:path w="7802880" h="25603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7510272" y="0"/>
                  </a:lnTo>
                  <a:cubicBezTo>
                    <a:pt x="7671943" y="0"/>
                    <a:pt x="7802880" y="131064"/>
                    <a:pt x="7802880" y="292608"/>
                  </a:cubicBezTo>
                  <a:lnTo>
                    <a:pt x="7802880" y="2267712"/>
                  </a:lnTo>
                  <a:cubicBezTo>
                    <a:pt x="7802880" y="2429383"/>
                    <a:pt x="7671816" y="2560320"/>
                    <a:pt x="7510272" y="2560320"/>
                  </a:cubicBezTo>
                  <a:lnTo>
                    <a:pt x="292608" y="2560320"/>
                  </a:lnTo>
                  <a:cubicBezTo>
                    <a:pt x="131064" y="2560320"/>
                    <a:pt x="0" y="2429256"/>
                    <a:pt x="0" y="2267712"/>
                  </a:cubicBezTo>
                  <a:close/>
                </a:path>
              </a:pathLst>
            </a:custGeom>
            <a:solidFill>
              <a:srgbClr val="0F3D2E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1704320" y="6939915"/>
            <a:ext cx="5303520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1">
                <a:solidFill>
                  <a:srgbClr val="F2B134"/>
                </a:solidFill>
                <a:latin typeface="Cambria Bold"/>
                <a:ea typeface="Cambria Bold"/>
                <a:cs typeface="Cambria Bold"/>
                <a:sym typeface="Cambria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04320" y="7917180"/>
            <a:ext cx="530352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Ways to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640080"/>
            <a:ext cx="16093440" cy="1280160"/>
            <a:chOff x="0" y="0"/>
            <a:chExt cx="2145792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706880"/>
            </a:xfrm>
            <a:custGeom>
              <a:avLst/>
              <a:gdLst/>
              <a:ahLst/>
              <a:cxnLst/>
              <a:rect l="l" t="t" r="r" b="b"/>
              <a:pathLst>
                <a:path w="21457920" h="170688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4954" b="-19495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F3D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Motivation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97280" y="9471660"/>
            <a:ext cx="731520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E7266"/>
                </a:solidFill>
                <a:latin typeface="Calibri (MS)"/>
                <a:ea typeface="Calibri (MS)"/>
                <a:cs typeface="Calibri (MS)"/>
                <a:sym typeface="Calibri (MS)"/>
              </a:rPr>
              <a:t>AgriTech Innovators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459200" y="9471660"/>
            <a:ext cx="73152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E7266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97280" y="2560320"/>
            <a:ext cx="5120640" cy="6035040"/>
            <a:chOff x="0" y="0"/>
            <a:chExt cx="6827520" cy="80467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27520" cy="8046720"/>
            </a:xfrm>
            <a:custGeom>
              <a:avLst/>
              <a:gdLst/>
              <a:ahLst/>
              <a:cxnLst/>
              <a:rect l="l" t="t" r="r" b="b"/>
              <a:pathLst>
                <a:path w="6827520" h="80467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583" y="0"/>
                    <a:pt x="6827520" y="131064"/>
                    <a:pt x="6827520" y="292608"/>
                  </a:cubicBezTo>
                  <a:lnTo>
                    <a:pt x="6827520" y="7754112"/>
                  </a:lnTo>
                  <a:cubicBezTo>
                    <a:pt x="6827520" y="7915783"/>
                    <a:pt x="6696456" y="8046720"/>
                    <a:pt x="6534912" y="8046720"/>
                  </a:cubicBezTo>
                  <a:lnTo>
                    <a:pt x="292608" y="8046720"/>
                  </a:lnTo>
                  <a:cubicBezTo>
                    <a:pt x="131064" y="8046720"/>
                    <a:pt x="0" y="7915656"/>
                    <a:pt x="0" y="77541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463040" y="2926080"/>
            <a:ext cx="768096" cy="768096"/>
            <a:chOff x="0" y="0"/>
            <a:chExt cx="1024128" cy="10241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463040" y="2926080"/>
            <a:ext cx="768096" cy="768096"/>
            <a:chOff x="0" y="0"/>
            <a:chExt cx="1024128" cy="1024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024128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63040" y="3912870"/>
            <a:ext cx="4389120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3D2E"/>
                </a:solidFill>
                <a:latin typeface="Cambria Bold"/>
                <a:ea typeface="Cambria Bold"/>
                <a:cs typeface="Cambria Bold"/>
                <a:sym typeface="Cambria Bold"/>
              </a:rPr>
              <a:t>Food Security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3040" y="4625340"/>
            <a:ext cx="4389120" cy="378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Crop disease can cause big yield loss.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Signs are seen only when it is late.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Early warning can save the crop.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583680" y="2560320"/>
            <a:ext cx="5120640" cy="6035040"/>
            <a:chOff x="0" y="0"/>
            <a:chExt cx="6827520" cy="80467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27520" cy="8046720"/>
            </a:xfrm>
            <a:custGeom>
              <a:avLst/>
              <a:gdLst/>
              <a:ahLst/>
              <a:cxnLst/>
              <a:rect l="l" t="t" r="r" b="b"/>
              <a:pathLst>
                <a:path w="6827520" h="80467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583" y="0"/>
                    <a:pt x="6827520" y="131064"/>
                    <a:pt x="6827520" y="292608"/>
                  </a:cubicBezTo>
                  <a:lnTo>
                    <a:pt x="6827520" y="7754112"/>
                  </a:lnTo>
                  <a:cubicBezTo>
                    <a:pt x="6827520" y="7915783"/>
                    <a:pt x="6696456" y="8046720"/>
                    <a:pt x="6534912" y="8046720"/>
                  </a:cubicBezTo>
                  <a:lnTo>
                    <a:pt x="292608" y="8046720"/>
                  </a:lnTo>
                  <a:cubicBezTo>
                    <a:pt x="131064" y="8046720"/>
                    <a:pt x="0" y="7915656"/>
                    <a:pt x="0" y="77541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6949440" y="2926080"/>
            <a:ext cx="768096" cy="768096"/>
            <a:chOff x="0" y="0"/>
            <a:chExt cx="1024128" cy="102412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949440" y="2926080"/>
            <a:ext cx="768096" cy="768096"/>
            <a:chOff x="0" y="0"/>
            <a:chExt cx="1024128" cy="10241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024128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949440" y="3912870"/>
            <a:ext cx="4389120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3D2E"/>
                </a:solidFill>
                <a:latin typeface="Cambria Bold"/>
                <a:ea typeface="Cambria Bold"/>
                <a:cs typeface="Cambria Bold"/>
                <a:sym typeface="Cambria Bold"/>
              </a:rPr>
              <a:t>Save Resources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949440" y="4625340"/>
            <a:ext cx="4389120" cy="378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watering wastes water.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Extra water washes away nutrients.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Pump runs only when soil is dry.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070080" y="2560320"/>
            <a:ext cx="5120640" cy="6035040"/>
            <a:chOff x="0" y="0"/>
            <a:chExt cx="6827520" cy="80467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827520" cy="8046720"/>
            </a:xfrm>
            <a:custGeom>
              <a:avLst/>
              <a:gdLst/>
              <a:ahLst/>
              <a:cxnLst/>
              <a:rect l="l" t="t" r="r" b="b"/>
              <a:pathLst>
                <a:path w="6827520" h="80467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583" y="0"/>
                    <a:pt x="6827520" y="131064"/>
                    <a:pt x="6827520" y="292608"/>
                  </a:cubicBezTo>
                  <a:lnTo>
                    <a:pt x="6827520" y="7754112"/>
                  </a:lnTo>
                  <a:cubicBezTo>
                    <a:pt x="6827520" y="7915783"/>
                    <a:pt x="6696456" y="8046720"/>
                    <a:pt x="6534912" y="8046720"/>
                  </a:cubicBezTo>
                  <a:lnTo>
                    <a:pt x="292608" y="8046720"/>
                  </a:lnTo>
                  <a:cubicBezTo>
                    <a:pt x="131064" y="8046720"/>
                    <a:pt x="0" y="7915656"/>
                    <a:pt x="0" y="77541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2435840" y="2926080"/>
            <a:ext cx="768096" cy="768096"/>
            <a:chOff x="0" y="0"/>
            <a:chExt cx="1024128" cy="102412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2435840" y="2926080"/>
            <a:ext cx="768096" cy="768096"/>
            <a:chOff x="0" y="0"/>
            <a:chExt cx="1024128" cy="102412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1024128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435840" y="3912870"/>
            <a:ext cx="4389120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3D2E"/>
                </a:solidFill>
                <a:latin typeface="Cambria Bold"/>
                <a:ea typeface="Cambria Bold"/>
                <a:cs typeface="Cambria Bold"/>
                <a:sym typeface="Cambria Bold"/>
              </a:rPr>
              <a:t>Farmer Comfort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13920" y="4625340"/>
            <a:ext cx="4632960" cy="1103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Less manual work in the field.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 the farm from Telegram.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Made for small farms.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640080"/>
            <a:ext cx="16093440" cy="1280160"/>
            <a:chOff x="0" y="0"/>
            <a:chExt cx="2145792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706880"/>
            </a:xfrm>
            <a:custGeom>
              <a:avLst/>
              <a:gdLst/>
              <a:ahLst/>
              <a:cxnLst/>
              <a:rect l="l" t="t" r="r" b="b"/>
              <a:pathLst>
                <a:path w="21457920" h="170688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4954" b="-19495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F3D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Statement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97280" y="9471660"/>
            <a:ext cx="731520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E7266"/>
                </a:solidFill>
                <a:latin typeface="Calibri (MS)"/>
                <a:ea typeface="Calibri (MS)"/>
                <a:cs typeface="Calibri (MS)"/>
                <a:sym typeface="Calibri (MS)"/>
              </a:rPr>
              <a:t>AgriTech Innovators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459200" y="9471660"/>
            <a:ext cx="73152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E7266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97280" y="2377440"/>
            <a:ext cx="6583680" cy="6492240"/>
            <a:chOff x="0" y="0"/>
            <a:chExt cx="8778240" cy="86563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778240" cy="8656320"/>
            </a:xfrm>
            <a:custGeom>
              <a:avLst/>
              <a:gdLst/>
              <a:ahLst/>
              <a:cxnLst/>
              <a:rect l="l" t="t" r="r" b="b"/>
              <a:pathLst>
                <a:path w="8778240" h="8656320">
                  <a:moveTo>
                    <a:pt x="0" y="341376"/>
                  </a:moveTo>
                  <a:cubicBezTo>
                    <a:pt x="0" y="152908"/>
                    <a:pt x="152908" y="0"/>
                    <a:pt x="341376" y="0"/>
                  </a:cubicBezTo>
                  <a:lnTo>
                    <a:pt x="8436864" y="0"/>
                  </a:lnTo>
                  <a:cubicBezTo>
                    <a:pt x="8625459" y="0"/>
                    <a:pt x="8778240" y="152908"/>
                    <a:pt x="8778240" y="341376"/>
                  </a:cubicBezTo>
                  <a:lnTo>
                    <a:pt x="8778240" y="8314944"/>
                  </a:lnTo>
                  <a:cubicBezTo>
                    <a:pt x="8778240" y="8503538"/>
                    <a:pt x="8625332" y="8656320"/>
                    <a:pt x="8436864" y="8656320"/>
                  </a:cubicBezTo>
                  <a:lnTo>
                    <a:pt x="341376" y="8656320"/>
                  </a:lnTo>
                  <a:cubicBezTo>
                    <a:pt x="152908" y="8656320"/>
                    <a:pt x="0" y="8503412"/>
                    <a:pt x="0" y="8314944"/>
                  </a:cubicBezTo>
                  <a:close/>
                </a:path>
              </a:pathLst>
            </a:custGeom>
            <a:solidFill>
              <a:srgbClr val="0F3D2E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554480" y="2815590"/>
            <a:ext cx="5669280" cy="3493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Farms check crops by hand, only now and then.</a:t>
            </a:r>
          </a:p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Early signs of problems are missed.</a:t>
            </a:r>
          </a:p>
          <a:p>
            <a:pPr marL="723900" lvl="1" indent="-361950" algn="l">
              <a:lnSpc>
                <a:spcPts val="3600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Disease harms crops before it is visible.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54480" y="6362700"/>
            <a:ext cx="566928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2B1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Who needs this: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4480" y="6947916"/>
            <a:ext cx="5669280" cy="1775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9BD770"/>
                </a:solidFill>
                <a:latin typeface="Calibri (MS)"/>
                <a:ea typeface="Calibri (MS)"/>
                <a:cs typeface="Calibri (MS)"/>
                <a:sym typeface="Calibri (MS)"/>
              </a:rPr>
              <a:t>Small farmers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9BD770"/>
                </a:solidFill>
                <a:latin typeface="Calibri (MS)"/>
                <a:ea typeface="Calibri (MS)"/>
                <a:cs typeface="Calibri (MS)"/>
                <a:sym typeface="Calibri (MS)"/>
              </a:rPr>
              <a:t>Greenhouse operators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9BD770"/>
                </a:solidFill>
                <a:latin typeface="Calibri (MS)"/>
                <a:ea typeface="Calibri (MS)"/>
                <a:cs typeface="Calibri (MS)"/>
                <a:sym typeface="Calibri (MS)"/>
              </a:rPr>
              <a:t>Garden managers and researchers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229600" y="2377440"/>
            <a:ext cx="8961120" cy="2011680"/>
            <a:chOff x="0" y="0"/>
            <a:chExt cx="11948160" cy="26822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948160" cy="2682240"/>
            </a:xfrm>
            <a:custGeom>
              <a:avLst/>
              <a:gdLst/>
              <a:ahLst/>
              <a:cxnLst/>
              <a:rect l="l" t="t" r="r" b="b"/>
              <a:pathLst>
                <a:path w="11948160" h="26822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1704320" y="0"/>
                  </a:lnTo>
                  <a:cubicBezTo>
                    <a:pt x="11838939" y="0"/>
                    <a:pt x="11948160" y="109220"/>
                    <a:pt x="11948160" y="243840"/>
                  </a:cubicBezTo>
                  <a:lnTo>
                    <a:pt x="11948160" y="2438400"/>
                  </a:lnTo>
                  <a:cubicBezTo>
                    <a:pt x="11948160" y="2573020"/>
                    <a:pt x="11838939" y="2682240"/>
                    <a:pt x="11704320" y="2682240"/>
                  </a:cubicBezTo>
                  <a:lnTo>
                    <a:pt x="243840" y="2682240"/>
                  </a:lnTo>
                  <a:cubicBezTo>
                    <a:pt x="109220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595360" y="2926080"/>
            <a:ext cx="914400" cy="914400"/>
            <a:chOff x="0" y="0"/>
            <a:chExt cx="1219200" cy="121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2B13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8595360" y="2926080"/>
            <a:ext cx="914400" cy="914400"/>
            <a:chOff x="0" y="0"/>
            <a:chExt cx="1219200" cy="121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0F3D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875520" y="2577846"/>
            <a:ext cx="694944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3D2E"/>
                </a:solidFill>
                <a:latin typeface="Cambria Bold"/>
                <a:ea typeface="Cambria Bold"/>
                <a:cs typeface="Cambria Bold"/>
                <a:sym typeface="Cambria Bold"/>
              </a:rPr>
              <a:t>Climate changes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75520" y="3244215"/>
            <a:ext cx="7132320" cy="106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1" lvl="1" indent="-277495" algn="l">
              <a:lnSpc>
                <a:spcPts val="2760"/>
              </a:lnSpc>
              <a:buFont typeface="Arial"/>
              <a:buChar char="•"/>
            </a:pPr>
            <a:r>
              <a:rPr lang="en-US" sz="23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Heat and humidity stress harm crops.</a:t>
            </a:r>
          </a:p>
          <a:p>
            <a:pPr marL="554991" lvl="1" indent="-277495" algn="l">
              <a:lnSpc>
                <a:spcPts val="2760"/>
              </a:lnSpc>
              <a:buFont typeface="Arial"/>
              <a:buChar char="•"/>
            </a:pPr>
            <a:r>
              <a:rPr lang="en-US" sz="23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Unwatched changes speed up crop diseases like fungal and bacterial growth.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229600" y="4572000"/>
            <a:ext cx="8961120" cy="2011680"/>
            <a:chOff x="0" y="0"/>
            <a:chExt cx="11948160" cy="26822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948160" cy="2682240"/>
            </a:xfrm>
            <a:custGeom>
              <a:avLst/>
              <a:gdLst/>
              <a:ahLst/>
              <a:cxnLst/>
              <a:rect l="l" t="t" r="r" b="b"/>
              <a:pathLst>
                <a:path w="11948160" h="26822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1704320" y="0"/>
                  </a:lnTo>
                  <a:cubicBezTo>
                    <a:pt x="11838939" y="0"/>
                    <a:pt x="11948160" y="109220"/>
                    <a:pt x="11948160" y="243840"/>
                  </a:cubicBezTo>
                  <a:lnTo>
                    <a:pt x="11948160" y="2438400"/>
                  </a:lnTo>
                  <a:cubicBezTo>
                    <a:pt x="11948160" y="2573020"/>
                    <a:pt x="11838939" y="2682240"/>
                    <a:pt x="11704320" y="2682240"/>
                  </a:cubicBezTo>
                  <a:lnTo>
                    <a:pt x="243840" y="2682240"/>
                  </a:lnTo>
                  <a:cubicBezTo>
                    <a:pt x="109220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8595360" y="5120640"/>
            <a:ext cx="914400" cy="914400"/>
            <a:chOff x="0" y="0"/>
            <a:chExt cx="121920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2B134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8595360" y="5120640"/>
            <a:ext cx="914400" cy="914400"/>
            <a:chOff x="0" y="0"/>
            <a:chExt cx="1219200" cy="1219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0F3D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875520" y="4772406"/>
            <a:ext cx="694944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3D2E"/>
                </a:solidFill>
                <a:latin typeface="Cambria Bold"/>
                <a:ea typeface="Cambria Bold"/>
                <a:cs typeface="Cambria Bold"/>
                <a:sym typeface="Cambria Bold"/>
              </a:rPr>
              <a:t>Poor water use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75520" y="5438775"/>
            <a:ext cx="7132320" cy="105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1" lvl="1" indent="-277495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Over-watering wastes water.</a:t>
            </a:r>
          </a:p>
          <a:p>
            <a:pPr marL="554991" lvl="1" indent="-277495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pH imbalance goes unnoticed.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229600" y="6766560"/>
            <a:ext cx="8961120" cy="2011680"/>
            <a:chOff x="0" y="0"/>
            <a:chExt cx="11948160" cy="26822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948160" cy="2682240"/>
            </a:xfrm>
            <a:custGeom>
              <a:avLst/>
              <a:gdLst/>
              <a:ahLst/>
              <a:cxnLst/>
              <a:rect l="l" t="t" r="r" b="b"/>
              <a:pathLst>
                <a:path w="11948160" h="26822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1704320" y="0"/>
                  </a:lnTo>
                  <a:cubicBezTo>
                    <a:pt x="11838939" y="0"/>
                    <a:pt x="11948160" y="109220"/>
                    <a:pt x="11948160" y="243840"/>
                  </a:cubicBezTo>
                  <a:lnTo>
                    <a:pt x="11948160" y="2438400"/>
                  </a:lnTo>
                  <a:cubicBezTo>
                    <a:pt x="11948160" y="2573020"/>
                    <a:pt x="11838939" y="2682240"/>
                    <a:pt x="11704320" y="2682240"/>
                  </a:cubicBezTo>
                  <a:lnTo>
                    <a:pt x="243840" y="2682240"/>
                  </a:lnTo>
                  <a:cubicBezTo>
                    <a:pt x="109220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8595360" y="7315200"/>
            <a:ext cx="914400" cy="914400"/>
            <a:chOff x="0" y="0"/>
            <a:chExt cx="1219200" cy="1219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2B134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8595360" y="7315200"/>
            <a:ext cx="914400" cy="914400"/>
            <a:chOff x="0" y="0"/>
            <a:chExt cx="1219200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0F3D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875520" y="6966966"/>
            <a:ext cx="694944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3D2E"/>
                </a:solidFill>
                <a:latin typeface="Cambria Bold"/>
                <a:ea typeface="Cambria Bold"/>
                <a:cs typeface="Cambria Bold"/>
                <a:sym typeface="Cambria Bold"/>
              </a:rPr>
              <a:t>Late disease detection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875520" y="7633335"/>
            <a:ext cx="7132320" cy="105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1" lvl="1" indent="-277495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Disease spreads before leaves show signs.</a:t>
            </a:r>
          </a:p>
          <a:p>
            <a:pPr marL="554991" lvl="1" indent="-277495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Late action causes big yield loss.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640080"/>
            <a:ext cx="16093440" cy="1280160"/>
            <a:chOff x="0" y="0"/>
            <a:chExt cx="2145792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706880"/>
            </a:xfrm>
            <a:custGeom>
              <a:avLst/>
              <a:gdLst/>
              <a:ahLst/>
              <a:cxnLst/>
              <a:rect l="l" t="t" r="r" b="b"/>
              <a:pathLst>
                <a:path w="21457920" h="170688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4954" b="-19495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F3D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Proposed Solution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97280" y="9471660"/>
            <a:ext cx="731520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E7266"/>
                </a:solidFill>
                <a:latin typeface="Calibri (MS)"/>
                <a:ea typeface="Calibri (MS)"/>
                <a:cs typeface="Calibri (MS)"/>
                <a:sym typeface="Calibri (MS)"/>
              </a:rPr>
              <a:t>AgriTech Innovators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459200" y="9471660"/>
            <a:ext cx="73152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E7266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97280" y="2194560"/>
            <a:ext cx="5120640" cy="3200400"/>
            <a:chOff x="0" y="0"/>
            <a:chExt cx="6827520" cy="4267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27520" cy="4267200"/>
            </a:xfrm>
            <a:custGeom>
              <a:avLst/>
              <a:gdLst/>
              <a:ahLst/>
              <a:cxnLst/>
              <a:rect l="l" t="t" r="r" b="b"/>
              <a:pathLst>
                <a:path w="6827520" h="42672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456" y="0"/>
                    <a:pt x="6827520" y="131064"/>
                    <a:pt x="6827520" y="292608"/>
                  </a:cubicBezTo>
                  <a:lnTo>
                    <a:pt x="6827520" y="3974592"/>
                  </a:lnTo>
                  <a:cubicBezTo>
                    <a:pt x="6827520" y="4136136"/>
                    <a:pt x="6696456" y="4267200"/>
                    <a:pt x="6534912" y="4267200"/>
                  </a:cubicBezTo>
                  <a:lnTo>
                    <a:pt x="292608" y="4267200"/>
                  </a:lnTo>
                  <a:cubicBezTo>
                    <a:pt x="131064" y="4267200"/>
                    <a:pt x="0" y="4136136"/>
                    <a:pt x="0" y="3974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463040" y="2541270"/>
            <a:ext cx="4389120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3D2E"/>
                </a:solidFill>
                <a:latin typeface="Cambria Bold"/>
                <a:ea typeface="Cambria Bold"/>
                <a:cs typeface="Cambria Bold"/>
                <a:sym typeface="Cambria Bold"/>
              </a:rPr>
              <a:t>Auto Watering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3040" y="3244215"/>
            <a:ext cx="4389120" cy="196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Pump ON when soil is dry.</a:t>
            </a:r>
          </a:p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Saves water.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83680" y="2194560"/>
            <a:ext cx="5120640" cy="3200400"/>
            <a:chOff x="0" y="0"/>
            <a:chExt cx="6827520" cy="4267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27520" cy="4267200"/>
            </a:xfrm>
            <a:custGeom>
              <a:avLst/>
              <a:gdLst/>
              <a:ahLst/>
              <a:cxnLst/>
              <a:rect l="l" t="t" r="r" b="b"/>
              <a:pathLst>
                <a:path w="6827520" h="42672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456" y="0"/>
                    <a:pt x="6827520" y="131064"/>
                    <a:pt x="6827520" y="292608"/>
                  </a:cubicBezTo>
                  <a:lnTo>
                    <a:pt x="6827520" y="3974592"/>
                  </a:lnTo>
                  <a:cubicBezTo>
                    <a:pt x="6827520" y="4136136"/>
                    <a:pt x="6696456" y="4267200"/>
                    <a:pt x="6534912" y="4267200"/>
                  </a:cubicBezTo>
                  <a:lnTo>
                    <a:pt x="292608" y="4267200"/>
                  </a:lnTo>
                  <a:cubicBezTo>
                    <a:pt x="131064" y="4267200"/>
                    <a:pt x="0" y="4136136"/>
                    <a:pt x="0" y="3974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6949440" y="2541270"/>
            <a:ext cx="4389120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3D2E"/>
                </a:solidFill>
                <a:latin typeface="Cambria Bold"/>
                <a:ea typeface="Cambria Bold"/>
                <a:cs typeface="Cambria Bold"/>
                <a:sym typeface="Cambria Bold"/>
              </a:rPr>
              <a:t>AI Crop Health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49440" y="3244215"/>
            <a:ext cx="4389120" cy="196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Uses pH, temperature, humidity and soil data.</a:t>
            </a:r>
          </a:p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Finds disease risk early.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070080" y="2194560"/>
            <a:ext cx="5120640" cy="3200400"/>
            <a:chOff x="0" y="0"/>
            <a:chExt cx="6827520" cy="4267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27520" cy="4267200"/>
            </a:xfrm>
            <a:custGeom>
              <a:avLst/>
              <a:gdLst/>
              <a:ahLst/>
              <a:cxnLst/>
              <a:rect l="l" t="t" r="r" b="b"/>
              <a:pathLst>
                <a:path w="6827520" h="42672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456" y="0"/>
                    <a:pt x="6827520" y="131064"/>
                    <a:pt x="6827520" y="292608"/>
                  </a:cubicBezTo>
                  <a:lnTo>
                    <a:pt x="6827520" y="3974592"/>
                  </a:lnTo>
                  <a:cubicBezTo>
                    <a:pt x="6827520" y="4136136"/>
                    <a:pt x="6696456" y="4267200"/>
                    <a:pt x="6534912" y="4267200"/>
                  </a:cubicBezTo>
                  <a:lnTo>
                    <a:pt x="292608" y="4267200"/>
                  </a:lnTo>
                  <a:cubicBezTo>
                    <a:pt x="131064" y="4267200"/>
                    <a:pt x="0" y="4136136"/>
                    <a:pt x="0" y="3974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435840" y="2541270"/>
            <a:ext cx="4389120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3D2E"/>
                </a:solidFill>
                <a:latin typeface="Cambria Bold"/>
                <a:ea typeface="Cambria Bold"/>
                <a:cs typeface="Cambria Bold"/>
                <a:sym typeface="Cambria Bold"/>
              </a:rPr>
              <a:t>Telegram Control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35840" y="3244215"/>
            <a:ext cx="4389120" cy="196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/status, /pump_on, /auto_on</a:t>
            </a:r>
          </a:p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 from anywhere.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97280" y="5760720"/>
            <a:ext cx="5120640" cy="3200400"/>
            <a:chOff x="0" y="0"/>
            <a:chExt cx="6827520" cy="4267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27520" cy="4267200"/>
            </a:xfrm>
            <a:custGeom>
              <a:avLst/>
              <a:gdLst/>
              <a:ahLst/>
              <a:cxnLst/>
              <a:rect l="l" t="t" r="r" b="b"/>
              <a:pathLst>
                <a:path w="6827520" h="42672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456" y="0"/>
                    <a:pt x="6827520" y="131064"/>
                    <a:pt x="6827520" y="292608"/>
                  </a:cubicBezTo>
                  <a:lnTo>
                    <a:pt x="6827520" y="3974592"/>
                  </a:lnTo>
                  <a:cubicBezTo>
                    <a:pt x="6827520" y="4136136"/>
                    <a:pt x="6696456" y="4267200"/>
                    <a:pt x="6534912" y="4267200"/>
                  </a:cubicBezTo>
                  <a:lnTo>
                    <a:pt x="292608" y="4267200"/>
                  </a:lnTo>
                  <a:cubicBezTo>
                    <a:pt x="131064" y="4267200"/>
                    <a:pt x="0" y="4136136"/>
                    <a:pt x="0" y="3974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463040" y="6107430"/>
            <a:ext cx="4389120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3D2E"/>
                </a:solidFill>
                <a:latin typeface="Cambria Bold"/>
                <a:ea typeface="Cambria Bold"/>
                <a:cs typeface="Cambria Bold"/>
                <a:sym typeface="Cambria Bold"/>
              </a:rPr>
              <a:t>Fan Cooling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63040" y="6810375"/>
            <a:ext cx="4389120" cy="196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Fan ON when temperature is high.</a:t>
            </a:r>
          </a:p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Also ON if humidity is over 85%.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583680" y="5760720"/>
            <a:ext cx="5120640" cy="3200400"/>
            <a:chOff x="0" y="0"/>
            <a:chExt cx="6827520" cy="4267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27520" cy="4267200"/>
            </a:xfrm>
            <a:custGeom>
              <a:avLst/>
              <a:gdLst/>
              <a:ahLst/>
              <a:cxnLst/>
              <a:rect l="l" t="t" r="r" b="b"/>
              <a:pathLst>
                <a:path w="6827520" h="42672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456" y="0"/>
                    <a:pt x="6827520" y="131064"/>
                    <a:pt x="6827520" y="292608"/>
                  </a:cubicBezTo>
                  <a:lnTo>
                    <a:pt x="6827520" y="3974592"/>
                  </a:lnTo>
                  <a:cubicBezTo>
                    <a:pt x="6827520" y="4136136"/>
                    <a:pt x="6696456" y="4267200"/>
                    <a:pt x="6534912" y="4267200"/>
                  </a:cubicBezTo>
                  <a:lnTo>
                    <a:pt x="292608" y="4267200"/>
                  </a:lnTo>
                  <a:cubicBezTo>
                    <a:pt x="131064" y="4267200"/>
                    <a:pt x="0" y="4136136"/>
                    <a:pt x="0" y="3974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6949440" y="6107430"/>
            <a:ext cx="4389120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3D2E"/>
                </a:solidFill>
                <a:latin typeface="Cambria Bold"/>
                <a:ea typeface="Cambria Bold"/>
                <a:cs typeface="Cambria Bold"/>
                <a:sym typeface="Cambria Bold"/>
              </a:rPr>
              <a:t>Offline Screen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49440" y="6810375"/>
            <a:ext cx="4389120" cy="196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Small color display.</a:t>
            </a:r>
          </a:p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Joystick menu, no internet needed.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070080" y="5760720"/>
            <a:ext cx="5120640" cy="3200400"/>
            <a:chOff x="0" y="0"/>
            <a:chExt cx="6827520" cy="4267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827520" cy="4267200"/>
            </a:xfrm>
            <a:custGeom>
              <a:avLst/>
              <a:gdLst/>
              <a:ahLst/>
              <a:cxnLst/>
              <a:rect l="l" t="t" r="r" b="b"/>
              <a:pathLst>
                <a:path w="6827520" h="42672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6534912" y="0"/>
                  </a:lnTo>
                  <a:cubicBezTo>
                    <a:pt x="6696456" y="0"/>
                    <a:pt x="6827520" y="131064"/>
                    <a:pt x="6827520" y="292608"/>
                  </a:cubicBezTo>
                  <a:lnTo>
                    <a:pt x="6827520" y="3974592"/>
                  </a:lnTo>
                  <a:cubicBezTo>
                    <a:pt x="6827520" y="4136136"/>
                    <a:pt x="6696456" y="4267200"/>
                    <a:pt x="6534912" y="4267200"/>
                  </a:cubicBezTo>
                  <a:lnTo>
                    <a:pt x="292608" y="4267200"/>
                  </a:lnTo>
                  <a:cubicBezTo>
                    <a:pt x="131064" y="4267200"/>
                    <a:pt x="0" y="4136136"/>
                    <a:pt x="0" y="3974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2435840" y="6107430"/>
            <a:ext cx="4389120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F3D2E"/>
                </a:solidFill>
                <a:latin typeface="Cambria Bold"/>
                <a:ea typeface="Cambria Bold"/>
                <a:cs typeface="Cambria Bold"/>
                <a:sym typeface="Cambria Bold"/>
              </a:rPr>
              <a:t>Easy Alerts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435840" y="6810375"/>
            <a:ext cx="4389120" cy="196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Colored LED patterns.</a:t>
            </a:r>
          </a:p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Different buzzer sounds.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640080"/>
            <a:ext cx="16093440" cy="1280160"/>
            <a:chOff x="0" y="0"/>
            <a:chExt cx="2145792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706880"/>
            </a:xfrm>
            <a:custGeom>
              <a:avLst/>
              <a:gdLst/>
              <a:ahLst/>
              <a:cxnLst/>
              <a:rect l="l" t="t" r="r" b="b"/>
              <a:pathLst>
                <a:path w="21457920" h="170688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4954" b="-19495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F3D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Hardware Used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97280" y="9471660"/>
            <a:ext cx="731520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E7266"/>
                </a:solidFill>
                <a:latin typeface="Calibri (MS)"/>
                <a:ea typeface="Calibri (MS)"/>
                <a:cs typeface="Calibri (MS)"/>
                <a:sym typeface="Calibri (MS)"/>
              </a:rPr>
              <a:t>AgriTech Innovators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459200" y="9471660"/>
            <a:ext cx="73152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E7266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97280" y="2194560"/>
            <a:ext cx="3840480" cy="5212080"/>
            <a:chOff x="0" y="0"/>
            <a:chExt cx="5120640" cy="6949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20640" cy="6949439"/>
            </a:xfrm>
            <a:custGeom>
              <a:avLst/>
              <a:gdLst/>
              <a:ahLst/>
              <a:cxnLst/>
              <a:rect l="l" t="t" r="r" b="b"/>
              <a:pathLst>
                <a:path w="5120640" h="6949439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4828032" y="0"/>
                  </a:lnTo>
                  <a:cubicBezTo>
                    <a:pt x="4989576" y="0"/>
                    <a:pt x="5120640" y="130937"/>
                    <a:pt x="5120640" y="292608"/>
                  </a:cubicBezTo>
                  <a:lnTo>
                    <a:pt x="5120640" y="6656832"/>
                  </a:lnTo>
                  <a:cubicBezTo>
                    <a:pt x="5120640" y="6818375"/>
                    <a:pt x="4989703" y="6949439"/>
                    <a:pt x="4828032" y="6949439"/>
                  </a:cubicBezTo>
                  <a:lnTo>
                    <a:pt x="292608" y="6949439"/>
                  </a:lnTo>
                  <a:cubicBezTo>
                    <a:pt x="130937" y="6949440"/>
                    <a:pt x="0" y="6818503"/>
                    <a:pt x="0" y="6656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97280" y="2194560"/>
            <a:ext cx="3840480" cy="1005840"/>
            <a:chOff x="0" y="0"/>
            <a:chExt cx="5120640" cy="1341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20640" cy="1341120"/>
            </a:xfrm>
            <a:custGeom>
              <a:avLst/>
              <a:gdLst/>
              <a:ahLst/>
              <a:cxnLst/>
              <a:rect l="l" t="t" r="r" b="b"/>
              <a:pathLst>
                <a:path w="5120640" h="13411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4828032" y="0"/>
                  </a:lnTo>
                  <a:cubicBezTo>
                    <a:pt x="4989576" y="0"/>
                    <a:pt x="5120640" y="131064"/>
                    <a:pt x="5120640" y="292608"/>
                  </a:cubicBezTo>
                  <a:lnTo>
                    <a:pt x="5120640" y="1048512"/>
                  </a:lnTo>
                  <a:cubicBezTo>
                    <a:pt x="5120640" y="1210056"/>
                    <a:pt x="4989576" y="1341120"/>
                    <a:pt x="4828032" y="1341120"/>
                  </a:cubicBezTo>
                  <a:lnTo>
                    <a:pt x="292608" y="1341120"/>
                  </a:lnTo>
                  <a:cubicBezTo>
                    <a:pt x="131064" y="1341120"/>
                    <a:pt x="0" y="1210056"/>
                    <a:pt x="0" y="104851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97280" y="2194560"/>
            <a:ext cx="3840480" cy="1005840"/>
            <a:chOff x="0" y="0"/>
            <a:chExt cx="5120640" cy="13411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20640" cy="1341120"/>
            </a:xfrm>
            <a:custGeom>
              <a:avLst/>
              <a:gdLst/>
              <a:ahLst/>
              <a:cxnLst/>
              <a:rect l="l" t="t" r="r" b="b"/>
              <a:pathLst>
                <a:path w="5120640" h="134112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397" b="-2439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120640" cy="1360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Controller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71600" y="3518535"/>
            <a:ext cx="3383280" cy="3796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ESP32 Dev Board</a:t>
            </a:r>
          </a:p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ESP32 Extension Board</a:t>
            </a:r>
          </a:p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Breadboard, jumper wires and other parts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266944" y="2194560"/>
            <a:ext cx="3840480" cy="5212080"/>
            <a:chOff x="0" y="0"/>
            <a:chExt cx="5120640" cy="69494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20640" cy="6949439"/>
            </a:xfrm>
            <a:custGeom>
              <a:avLst/>
              <a:gdLst/>
              <a:ahLst/>
              <a:cxnLst/>
              <a:rect l="l" t="t" r="r" b="b"/>
              <a:pathLst>
                <a:path w="5120640" h="6949439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4828032" y="0"/>
                  </a:lnTo>
                  <a:cubicBezTo>
                    <a:pt x="4989576" y="0"/>
                    <a:pt x="5120640" y="130937"/>
                    <a:pt x="5120640" y="292608"/>
                  </a:cubicBezTo>
                  <a:lnTo>
                    <a:pt x="5120640" y="6656832"/>
                  </a:lnTo>
                  <a:cubicBezTo>
                    <a:pt x="5120640" y="6818375"/>
                    <a:pt x="4989703" y="6949439"/>
                    <a:pt x="4828032" y="6949439"/>
                  </a:cubicBezTo>
                  <a:lnTo>
                    <a:pt x="292608" y="6949439"/>
                  </a:lnTo>
                  <a:cubicBezTo>
                    <a:pt x="130937" y="6949440"/>
                    <a:pt x="0" y="6818503"/>
                    <a:pt x="0" y="6656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266944" y="2194560"/>
            <a:ext cx="3840480" cy="1005840"/>
            <a:chOff x="0" y="0"/>
            <a:chExt cx="5120640" cy="13411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120640" cy="1341120"/>
            </a:xfrm>
            <a:custGeom>
              <a:avLst/>
              <a:gdLst/>
              <a:ahLst/>
              <a:cxnLst/>
              <a:rect l="l" t="t" r="r" b="b"/>
              <a:pathLst>
                <a:path w="5120640" h="13411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4828032" y="0"/>
                  </a:lnTo>
                  <a:cubicBezTo>
                    <a:pt x="4989576" y="0"/>
                    <a:pt x="5120640" y="131064"/>
                    <a:pt x="5120640" y="292608"/>
                  </a:cubicBezTo>
                  <a:lnTo>
                    <a:pt x="5120640" y="1048512"/>
                  </a:lnTo>
                  <a:cubicBezTo>
                    <a:pt x="5120640" y="1210056"/>
                    <a:pt x="4989576" y="1341120"/>
                    <a:pt x="4828032" y="1341120"/>
                  </a:cubicBezTo>
                  <a:lnTo>
                    <a:pt x="292608" y="1341120"/>
                  </a:lnTo>
                  <a:cubicBezTo>
                    <a:pt x="131064" y="1341120"/>
                    <a:pt x="0" y="1210056"/>
                    <a:pt x="0" y="104851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5266944" y="2194560"/>
            <a:ext cx="3840480" cy="1005840"/>
            <a:chOff x="0" y="0"/>
            <a:chExt cx="5120640" cy="13411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20640" cy="1341120"/>
            </a:xfrm>
            <a:custGeom>
              <a:avLst/>
              <a:gdLst/>
              <a:ahLst/>
              <a:cxnLst/>
              <a:rect l="l" t="t" r="r" b="b"/>
              <a:pathLst>
                <a:path w="5120640" h="134112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397" b="-24397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5120640" cy="1360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Sensors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541264" y="3518535"/>
            <a:ext cx="3383280" cy="3796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DHT22 Temp &amp; Humidity Sensor</a:t>
            </a:r>
          </a:p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Capacitive Soil Moisture Sensor</a:t>
            </a:r>
          </a:p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LDR Light Sensor Module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436608" y="2194560"/>
            <a:ext cx="3840480" cy="5212080"/>
            <a:chOff x="0" y="0"/>
            <a:chExt cx="5120640" cy="69494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20640" cy="6949439"/>
            </a:xfrm>
            <a:custGeom>
              <a:avLst/>
              <a:gdLst/>
              <a:ahLst/>
              <a:cxnLst/>
              <a:rect l="l" t="t" r="r" b="b"/>
              <a:pathLst>
                <a:path w="5120640" h="6949439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4828032" y="0"/>
                  </a:lnTo>
                  <a:cubicBezTo>
                    <a:pt x="4989576" y="0"/>
                    <a:pt x="5120640" y="130937"/>
                    <a:pt x="5120640" y="292608"/>
                  </a:cubicBezTo>
                  <a:lnTo>
                    <a:pt x="5120640" y="6656832"/>
                  </a:lnTo>
                  <a:cubicBezTo>
                    <a:pt x="5120640" y="6818375"/>
                    <a:pt x="4989703" y="6949439"/>
                    <a:pt x="4828032" y="6949439"/>
                  </a:cubicBezTo>
                  <a:lnTo>
                    <a:pt x="292608" y="6949439"/>
                  </a:lnTo>
                  <a:cubicBezTo>
                    <a:pt x="130937" y="6949440"/>
                    <a:pt x="0" y="6818503"/>
                    <a:pt x="0" y="6656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9436608" y="2194560"/>
            <a:ext cx="3840480" cy="1005840"/>
            <a:chOff x="0" y="0"/>
            <a:chExt cx="5120640" cy="13411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120640" cy="1341120"/>
            </a:xfrm>
            <a:custGeom>
              <a:avLst/>
              <a:gdLst/>
              <a:ahLst/>
              <a:cxnLst/>
              <a:rect l="l" t="t" r="r" b="b"/>
              <a:pathLst>
                <a:path w="5120640" h="13411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4828032" y="0"/>
                  </a:lnTo>
                  <a:cubicBezTo>
                    <a:pt x="4989576" y="0"/>
                    <a:pt x="5120640" y="131064"/>
                    <a:pt x="5120640" y="292608"/>
                  </a:cubicBezTo>
                  <a:lnTo>
                    <a:pt x="5120640" y="1048512"/>
                  </a:lnTo>
                  <a:cubicBezTo>
                    <a:pt x="5120640" y="1210056"/>
                    <a:pt x="4989576" y="1341120"/>
                    <a:pt x="4828032" y="1341120"/>
                  </a:cubicBezTo>
                  <a:lnTo>
                    <a:pt x="292608" y="1341120"/>
                  </a:lnTo>
                  <a:cubicBezTo>
                    <a:pt x="131064" y="1341120"/>
                    <a:pt x="0" y="1210056"/>
                    <a:pt x="0" y="104851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9436608" y="2194560"/>
            <a:ext cx="3840480" cy="1005840"/>
            <a:chOff x="0" y="0"/>
            <a:chExt cx="5120640" cy="13411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120640" cy="1341120"/>
            </a:xfrm>
            <a:custGeom>
              <a:avLst/>
              <a:gdLst/>
              <a:ahLst/>
              <a:cxnLst/>
              <a:rect l="l" t="t" r="r" b="b"/>
              <a:pathLst>
                <a:path w="5120640" h="134112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397" b="-24397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5120640" cy="1360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Actuators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710928" y="3518535"/>
            <a:ext cx="3383280" cy="3796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4-Channel 5V Relay Module</a:t>
            </a:r>
          </a:p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5V Submersible Water Pump</a:t>
            </a:r>
          </a:p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5V DC Cooling Fan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3606272" y="2194560"/>
            <a:ext cx="3840480" cy="5212080"/>
            <a:chOff x="0" y="0"/>
            <a:chExt cx="5120640" cy="69494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120640" cy="6949439"/>
            </a:xfrm>
            <a:custGeom>
              <a:avLst/>
              <a:gdLst/>
              <a:ahLst/>
              <a:cxnLst/>
              <a:rect l="l" t="t" r="r" b="b"/>
              <a:pathLst>
                <a:path w="5120640" h="6949439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4828032" y="0"/>
                  </a:lnTo>
                  <a:cubicBezTo>
                    <a:pt x="4989576" y="0"/>
                    <a:pt x="5120640" y="130937"/>
                    <a:pt x="5120640" y="292608"/>
                  </a:cubicBezTo>
                  <a:lnTo>
                    <a:pt x="5120640" y="6656832"/>
                  </a:lnTo>
                  <a:cubicBezTo>
                    <a:pt x="5120640" y="6818375"/>
                    <a:pt x="4989703" y="6949439"/>
                    <a:pt x="4828032" y="6949439"/>
                  </a:cubicBezTo>
                  <a:lnTo>
                    <a:pt x="292608" y="6949439"/>
                  </a:lnTo>
                  <a:cubicBezTo>
                    <a:pt x="130937" y="6949440"/>
                    <a:pt x="0" y="6818503"/>
                    <a:pt x="0" y="6656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3606272" y="2194560"/>
            <a:ext cx="3840480" cy="1005840"/>
            <a:chOff x="0" y="0"/>
            <a:chExt cx="5120640" cy="13411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120640" cy="1341120"/>
            </a:xfrm>
            <a:custGeom>
              <a:avLst/>
              <a:gdLst/>
              <a:ahLst/>
              <a:cxnLst/>
              <a:rect l="l" t="t" r="r" b="b"/>
              <a:pathLst>
                <a:path w="5120640" h="134112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4828032" y="0"/>
                  </a:lnTo>
                  <a:cubicBezTo>
                    <a:pt x="4989576" y="0"/>
                    <a:pt x="5120640" y="131064"/>
                    <a:pt x="5120640" y="292608"/>
                  </a:cubicBezTo>
                  <a:lnTo>
                    <a:pt x="5120640" y="1048512"/>
                  </a:lnTo>
                  <a:cubicBezTo>
                    <a:pt x="5120640" y="1210056"/>
                    <a:pt x="4989576" y="1341120"/>
                    <a:pt x="4828032" y="1341120"/>
                  </a:cubicBezTo>
                  <a:lnTo>
                    <a:pt x="292608" y="1341120"/>
                  </a:lnTo>
                  <a:cubicBezTo>
                    <a:pt x="131064" y="1341120"/>
                    <a:pt x="0" y="1210056"/>
                    <a:pt x="0" y="104851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3606272" y="2194560"/>
            <a:ext cx="3840480" cy="1005840"/>
            <a:chOff x="0" y="0"/>
            <a:chExt cx="5120640" cy="13411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120640" cy="1341120"/>
            </a:xfrm>
            <a:custGeom>
              <a:avLst/>
              <a:gdLst/>
              <a:ahLst/>
              <a:cxnLst/>
              <a:rect l="l" t="t" r="r" b="b"/>
              <a:pathLst>
                <a:path w="5120640" h="134112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397" b="-24397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5120640" cy="1360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Display &amp; Alerts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3880592" y="3518535"/>
            <a:ext cx="3383280" cy="3796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ST7735 1.44" SPI Color TFT Display</a:t>
            </a:r>
          </a:p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2-Axis Analog Joystick Module</a:t>
            </a:r>
          </a:p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WS2812B NeoPixel RGB LED Strip</a:t>
            </a:r>
          </a:p>
          <a:p>
            <a:pPr marL="530859" lvl="1" indent="-265430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Active Buzzer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097280" y="7772400"/>
            <a:ext cx="16093440" cy="1188720"/>
            <a:chOff x="0" y="0"/>
            <a:chExt cx="21457920" cy="158496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1457921" cy="1584960"/>
            </a:xfrm>
            <a:custGeom>
              <a:avLst/>
              <a:gdLst/>
              <a:ahLst/>
              <a:cxnLst/>
              <a:rect l="l" t="t" r="r" b="b"/>
              <a:pathLst>
                <a:path w="21457921" h="158496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1165313" y="0"/>
                  </a:lnTo>
                  <a:cubicBezTo>
                    <a:pt x="21326856" y="0"/>
                    <a:pt x="21457921" y="131064"/>
                    <a:pt x="21457921" y="292608"/>
                  </a:cubicBezTo>
                  <a:lnTo>
                    <a:pt x="21457921" y="1292352"/>
                  </a:lnTo>
                  <a:cubicBezTo>
                    <a:pt x="21457921" y="1453896"/>
                    <a:pt x="21326856" y="1584960"/>
                    <a:pt x="21165313" y="1584960"/>
                  </a:cubicBezTo>
                  <a:lnTo>
                    <a:pt x="292608" y="1584960"/>
                  </a:lnTo>
                  <a:cubicBezTo>
                    <a:pt x="131064" y="1584960"/>
                    <a:pt x="0" y="1453896"/>
                    <a:pt x="0" y="1292352"/>
                  </a:cubicBezTo>
                  <a:close/>
                </a:path>
              </a:pathLst>
            </a:custGeom>
            <a:solidFill>
              <a:srgbClr val="0F3D2E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554480" y="7772400"/>
            <a:ext cx="15179040" cy="1188720"/>
            <a:chOff x="0" y="0"/>
            <a:chExt cx="20238720" cy="15849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238720" cy="1584960"/>
            </a:xfrm>
            <a:custGeom>
              <a:avLst/>
              <a:gdLst/>
              <a:ahLst/>
              <a:cxnLst/>
              <a:rect l="l" t="t" r="r" b="b"/>
              <a:pathLst>
                <a:path w="20238720" h="1584960">
                  <a:moveTo>
                    <a:pt x="0" y="0"/>
                  </a:moveTo>
                  <a:lnTo>
                    <a:pt x="20238720" y="0"/>
                  </a:lnTo>
                  <a:lnTo>
                    <a:pt x="20238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808" b="-198808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2023872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estimated cost:  </a:t>
              </a:r>
              <a:r>
                <a:rPr lang="en-US" sz="3000" b="1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Tk 2,950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640080"/>
            <a:ext cx="16093440" cy="1280160"/>
            <a:chOff x="0" y="0"/>
            <a:chExt cx="2145792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706880"/>
            </a:xfrm>
            <a:custGeom>
              <a:avLst/>
              <a:gdLst/>
              <a:ahLst/>
              <a:cxnLst/>
              <a:rect l="l" t="t" r="r" b="b"/>
              <a:pathLst>
                <a:path w="21457920" h="170688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4954" b="-19495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F3D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Hardware Implementation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97280" y="9471660"/>
            <a:ext cx="731520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E7266"/>
                </a:solidFill>
                <a:latin typeface="Calibri (MS)"/>
                <a:ea typeface="Calibri (MS)"/>
                <a:cs typeface="Calibri (MS)"/>
                <a:sym typeface="Calibri (MS)"/>
              </a:rPr>
              <a:t>AgriTech Innovators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459200" y="9471660"/>
            <a:ext cx="73152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E7266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7280" y="2137410"/>
            <a:ext cx="2926080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5E72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97280" y="2926080"/>
            <a:ext cx="2926080" cy="1243584"/>
            <a:chOff x="0" y="0"/>
            <a:chExt cx="3901440" cy="16581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01440" cy="1658112"/>
            </a:xfrm>
            <a:custGeom>
              <a:avLst/>
              <a:gdLst/>
              <a:ahLst/>
              <a:cxnLst/>
              <a:rect l="l" t="t" r="r" b="b"/>
              <a:pathLst>
                <a:path w="3901440" h="16581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657600" y="0"/>
                  </a:lnTo>
                  <a:cubicBezTo>
                    <a:pt x="3792220" y="0"/>
                    <a:pt x="3901440" y="109220"/>
                    <a:pt x="3901440" y="243840"/>
                  </a:cubicBezTo>
                  <a:lnTo>
                    <a:pt x="3901440" y="1414272"/>
                  </a:lnTo>
                  <a:cubicBezTo>
                    <a:pt x="3901440" y="1548892"/>
                    <a:pt x="3792220" y="1658112"/>
                    <a:pt x="3657600" y="1658112"/>
                  </a:cubicBezTo>
                  <a:lnTo>
                    <a:pt x="243840" y="1658112"/>
                  </a:lnTo>
                  <a:cubicBezTo>
                    <a:pt x="109220" y="1658112"/>
                    <a:pt x="0" y="1548892"/>
                    <a:pt x="0" y="14142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97280" y="2926080"/>
            <a:ext cx="2926080" cy="1243584"/>
            <a:chOff x="0" y="0"/>
            <a:chExt cx="3901440" cy="16581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01440" cy="1658112"/>
            </a:xfrm>
            <a:custGeom>
              <a:avLst/>
              <a:gdLst/>
              <a:ahLst/>
              <a:cxnLst/>
              <a:rect l="l" t="t" r="r" b="b"/>
              <a:pathLst>
                <a:path w="3901440" h="1658112">
                  <a:moveTo>
                    <a:pt x="0" y="0"/>
                  </a:moveTo>
                  <a:lnTo>
                    <a:pt x="3901440" y="0"/>
                  </a:lnTo>
                  <a:lnTo>
                    <a:pt x="39014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9" r="-4529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90144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0F3D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DHT22 sensor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97280" y="4480560"/>
            <a:ext cx="2926080" cy="1243584"/>
            <a:chOff x="0" y="0"/>
            <a:chExt cx="3901440" cy="16581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901440" cy="1658112"/>
            </a:xfrm>
            <a:custGeom>
              <a:avLst/>
              <a:gdLst/>
              <a:ahLst/>
              <a:cxnLst/>
              <a:rect l="l" t="t" r="r" b="b"/>
              <a:pathLst>
                <a:path w="3901440" h="16581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657600" y="0"/>
                  </a:lnTo>
                  <a:cubicBezTo>
                    <a:pt x="3792220" y="0"/>
                    <a:pt x="3901440" y="109220"/>
                    <a:pt x="3901440" y="243840"/>
                  </a:cubicBezTo>
                  <a:lnTo>
                    <a:pt x="3901440" y="1414272"/>
                  </a:lnTo>
                  <a:cubicBezTo>
                    <a:pt x="3901440" y="1548892"/>
                    <a:pt x="3792220" y="1658112"/>
                    <a:pt x="3657600" y="1658112"/>
                  </a:cubicBezTo>
                  <a:lnTo>
                    <a:pt x="243840" y="1658112"/>
                  </a:lnTo>
                  <a:cubicBezTo>
                    <a:pt x="109220" y="1658112"/>
                    <a:pt x="0" y="1548892"/>
                    <a:pt x="0" y="14142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097280" y="4480560"/>
            <a:ext cx="2926080" cy="1243584"/>
            <a:chOff x="0" y="0"/>
            <a:chExt cx="3901440" cy="16581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01440" cy="1658112"/>
            </a:xfrm>
            <a:custGeom>
              <a:avLst/>
              <a:gdLst/>
              <a:ahLst/>
              <a:cxnLst/>
              <a:rect l="l" t="t" r="r" b="b"/>
              <a:pathLst>
                <a:path w="3901440" h="1658112">
                  <a:moveTo>
                    <a:pt x="0" y="0"/>
                  </a:moveTo>
                  <a:lnTo>
                    <a:pt x="3901440" y="0"/>
                  </a:lnTo>
                  <a:lnTo>
                    <a:pt x="39014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9" r="-4529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90144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0F3D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Soil sensor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97280" y="6035040"/>
            <a:ext cx="2926080" cy="1243584"/>
            <a:chOff x="0" y="0"/>
            <a:chExt cx="3901440" cy="16581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01440" cy="1658112"/>
            </a:xfrm>
            <a:custGeom>
              <a:avLst/>
              <a:gdLst/>
              <a:ahLst/>
              <a:cxnLst/>
              <a:rect l="l" t="t" r="r" b="b"/>
              <a:pathLst>
                <a:path w="3901440" h="16581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657600" y="0"/>
                  </a:lnTo>
                  <a:cubicBezTo>
                    <a:pt x="3792220" y="0"/>
                    <a:pt x="3901440" y="109220"/>
                    <a:pt x="3901440" y="243840"/>
                  </a:cubicBezTo>
                  <a:lnTo>
                    <a:pt x="3901440" y="1414272"/>
                  </a:lnTo>
                  <a:cubicBezTo>
                    <a:pt x="3901440" y="1548892"/>
                    <a:pt x="3792220" y="1658112"/>
                    <a:pt x="3657600" y="1658112"/>
                  </a:cubicBezTo>
                  <a:lnTo>
                    <a:pt x="243840" y="1658112"/>
                  </a:lnTo>
                  <a:cubicBezTo>
                    <a:pt x="109220" y="1658112"/>
                    <a:pt x="0" y="1548892"/>
                    <a:pt x="0" y="14142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097280" y="6035040"/>
            <a:ext cx="2926080" cy="1243584"/>
            <a:chOff x="0" y="0"/>
            <a:chExt cx="3901440" cy="16581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901440" cy="1658112"/>
            </a:xfrm>
            <a:custGeom>
              <a:avLst/>
              <a:gdLst/>
              <a:ahLst/>
              <a:cxnLst/>
              <a:rect l="l" t="t" r="r" b="b"/>
              <a:pathLst>
                <a:path w="3901440" h="1658112">
                  <a:moveTo>
                    <a:pt x="0" y="0"/>
                  </a:moveTo>
                  <a:lnTo>
                    <a:pt x="3901440" y="0"/>
                  </a:lnTo>
                  <a:lnTo>
                    <a:pt x="39014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9" r="-4529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390144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0F3D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LDR light sensor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97280" y="7589520"/>
            <a:ext cx="2926080" cy="1243584"/>
            <a:chOff x="0" y="0"/>
            <a:chExt cx="3901440" cy="165811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901440" cy="1658112"/>
            </a:xfrm>
            <a:custGeom>
              <a:avLst/>
              <a:gdLst/>
              <a:ahLst/>
              <a:cxnLst/>
              <a:rect l="l" t="t" r="r" b="b"/>
              <a:pathLst>
                <a:path w="3901440" h="16581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657600" y="0"/>
                  </a:lnTo>
                  <a:cubicBezTo>
                    <a:pt x="3792220" y="0"/>
                    <a:pt x="3901440" y="109220"/>
                    <a:pt x="3901440" y="243840"/>
                  </a:cubicBezTo>
                  <a:lnTo>
                    <a:pt x="3901440" y="1414272"/>
                  </a:lnTo>
                  <a:cubicBezTo>
                    <a:pt x="3901440" y="1548892"/>
                    <a:pt x="3792220" y="1658112"/>
                    <a:pt x="3657600" y="1658112"/>
                  </a:cubicBezTo>
                  <a:lnTo>
                    <a:pt x="243840" y="1658112"/>
                  </a:lnTo>
                  <a:cubicBezTo>
                    <a:pt x="109220" y="1658112"/>
                    <a:pt x="0" y="1548892"/>
                    <a:pt x="0" y="141427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097280" y="7589520"/>
            <a:ext cx="2926080" cy="1243584"/>
            <a:chOff x="0" y="0"/>
            <a:chExt cx="3901440" cy="165811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01440" cy="1658112"/>
            </a:xfrm>
            <a:custGeom>
              <a:avLst/>
              <a:gdLst/>
              <a:ahLst/>
              <a:cxnLst/>
              <a:rect l="l" t="t" r="r" b="b"/>
              <a:pathLst>
                <a:path w="3901440" h="1658112">
                  <a:moveTo>
                    <a:pt x="0" y="0"/>
                  </a:moveTo>
                  <a:lnTo>
                    <a:pt x="3901440" y="0"/>
                  </a:lnTo>
                  <a:lnTo>
                    <a:pt x="39014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9" r="-4529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390144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0F3D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Joystick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029200" y="2926080"/>
            <a:ext cx="3108960" cy="5907024"/>
            <a:chOff x="0" y="0"/>
            <a:chExt cx="4145280" cy="787603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145280" cy="7876032"/>
            </a:xfrm>
            <a:custGeom>
              <a:avLst/>
              <a:gdLst/>
              <a:ahLst/>
              <a:cxnLst/>
              <a:rect l="l" t="t" r="r" b="b"/>
              <a:pathLst>
                <a:path w="4145280" h="7876032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3852672" y="0"/>
                  </a:lnTo>
                  <a:cubicBezTo>
                    <a:pt x="4014216" y="0"/>
                    <a:pt x="4145280" y="131064"/>
                    <a:pt x="4145280" y="292608"/>
                  </a:cubicBezTo>
                  <a:lnTo>
                    <a:pt x="4145280" y="7583424"/>
                  </a:lnTo>
                  <a:cubicBezTo>
                    <a:pt x="4145280" y="7744968"/>
                    <a:pt x="4014216" y="7876032"/>
                    <a:pt x="3852672" y="7876032"/>
                  </a:cubicBezTo>
                  <a:lnTo>
                    <a:pt x="292608" y="7876032"/>
                  </a:lnTo>
                  <a:cubicBezTo>
                    <a:pt x="131064" y="7876032"/>
                    <a:pt x="0" y="7744968"/>
                    <a:pt x="0" y="7583424"/>
                  </a:cubicBezTo>
                  <a:close/>
                </a:path>
              </a:pathLst>
            </a:custGeom>
            <a:solidFill>
              <a:srgbClr val="0F3D2E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5029200" y="3089910"/>
            <a:ext cx="310896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F2B134"/>
                </a:solidFill>
                <a:latin typeface="Cambria Bold"/>
                <a:ea typeface="Cambria Bold"/>
                <a:cs typeface="Cambria Bold"/>
                <a:sym typeface="Cambria Bold"/>
              </a:rPr>
              <a:t>ESP32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03520" y="4114800"/>
            <a:ext cx="2560320" cy="1828800"/>
            <a:chOff x="0" y="0"/>
            <a:chExt cx="3413760" cy="2438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413760" cy="2438400"/>
            </a:xfrm>
            <a:custGeom>
              <a:avLst/>
              <a:gdLst/>
              <a:ahLst/>
              <a:cxnLst/>
              <a:rect l="l" t="t" r="r" b="b"/>
              <a:pathLst>
                <a:path w="3413760" h="24384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218688" y="0"/>
                  </a:lnTo>
                  <a:cubicBezTo>
                    <a:pt x="3326384" y="0"/>
                    <a:pt x="3413760" y="87376"/>
                    <a:pt x="3413760" y="195072"/>
                  </a:cubicBezTo>
                  <a:lnTo>
                    <a:pt x="3413760" y="2243328"/>
                  </a:lnTo>
                  <a:cubicBezTo>
                    <a:pt x="3413760" y="2351024"/>
                    <a:pt x="3326384" y="2438400"/>
                    <a:pt x="3218688" y="2438400"/>
                  </a:cubicBezTo>
                  <a:lnTo>
                    <a:pt x="195072" y="2438400"/>
                  </a:lnTo>
                  <a:cubicBezTo>
                    <a:pt x="87376" y="2438400"/>
                    <a:pt x="0" y="2351024"/>
                    <a:pt x="0" y="2243328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5303520" y="4114800"/>
            <a:ext cx="2560320" cy="1828800"/>
            <a:chOff x="0" y="0"/>
            <a:chExt cx="3413760" cy="2438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413760" cy="2438400"/>
            </a:xfrm>
            <a:custGeom>
              <a:avLst/>
              <a:gdLst/>
              <a:ahLst/>
              <a:cxnLst/>
              <a:rect l="l" t="t" r="r" b="b"/>
              <a:pathLst>
                <a:path w="3413760" h="2438400">
                  <a:moveTo>
                    <a:pt x="0" y="0"/>
                  </a:moveTo>
                  <a:lnTo>
                    <a:pt x="3413760" y="0"/>
                  </a:lnTo>
                  <a:lnTo>
                    <a:pt x="34137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r="-41645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3413760" cy="2476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1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checks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03520" y="6217920"/>
            <a:ext cx="2560320" cy="1828800"/>
            <a:chOff x="0" y="0"/>
            <a:chExt cx="3413760" cy="2438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413760" cy="2438400"/>
            </a:xfrm>
            <a:custGeom>
              <a:avLst/>
              <a:gdLst/>
              <a:ahLst/>
              <a:cxnLst/>
              <a:rect l="l" t="t" r="r" b="b"/>
              <a:pathLst>
                <a:path w="3413760" h="24384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218688" y="0"/>
                  </a:lnTo>
                  <a:cubicBezTo>
                    <a:pt x="3326384" y="0"/>
                    <a:pt x="3413760" y="87376"/>
                    <a:pt x="3413760" y="195072"/>
                  </a:cubicBezTo>
                  <a:lnTo>
                    <a:pt x="3413760" y="2243328"/>
                  </a:lnTo>
                  <a:cubicBezTo>
                    <a:pt x="3413760" y="2351024"/>
                    <a:pt x="3326384" y="2438400"/>
                    <a:pt x="3218688" y="2438400"/>
                  </a:cubicBezTo>
                  <a:lnTo>
                    <a:pt x="195072" y="2438400"/>
                  </a:lnTo>
                  <a:cubicBezTo>
                    <a:pt x="87376" y="2438400"/>
                    <a:pt x="0" y="2351024"/>
                    <a:pt x="0" y="2243328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5303520" y="6217920"/>
            <a:ext cx="2560320" cy="1828800"/>
            <a:chOff x="0" y="0"/>
            <a:chExt cx="3413760" cy="2438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413760" cy="2438400"/>
            </a:xfrm>
            <a:custGeom>
              <a:avLst/>
              <a:gdLst/>
              <a:ahLst/>
              <a:cxnLst/>
              <a:rect l="l" t="t" r="r" b="b"/>
              <a:pathLst>
                <a:path w="3413760" h="2438400">
                  <a:moveTo>
                    <a:pt x="0" y="0"/>
                  </a:moveTo>
                  <a:lnTo>
                    <a:pt x="3413760" y="0"/>
                  </a:lnTo>
                  <a:lnTo>
                    <a:pt x="34137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r="-41645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3413760" cy="2476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2B1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0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Wi-Fi, Telegram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029200" y="8191500"/>
            <a:ext cx="310896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9BD770"/>
                </a:solidFill>
                <a:latin typeface="Calibri (MS)"/>
                <a:ea typeface="Calibri (MS)"/>
                <a:cs typeface="Calibri (MS)"/>
                <a:sym typeface="Calibri (MS)"/>
              </a:rPr>
              <a:t>FreeRTOS + NVS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686800" y="2137410"/>
            <a:ext cx="2926080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5E72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OUTPUT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8686800" y="2926080"/>
            <a:ext cx="2926080" cy="1243584"/>
            <a:chOff x="0" y="0"/>
            <a:chExt cx="3901440" cy="165811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901440" cy="1658112"/>
            </a:xfrm>
            <a:custGeom>
              <a:avLst/>
              <a:gdLst/>
              <a:ahLst/>
              <a:cxnLst/>
              <a:rect l="l" t="t" r="r" b="b"/>
              <a:pathLst>
                <a:path w="3901440" h="16581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657600" y="0"/>
                  </a:lnTo>
                  <a:cubicBezTo>
                    <a:pt x="3792220" y="0"/>
                    <a:pt x="3901440" y="109220"/>
                    <a:pt x="3901440" y="243840"/>
                  </a:cubicBezTo>
                  <a:lnTo>
                    <a:pt x="3901440" y="1414272"/>
                  </a:lnTo>
                  <a:cubicBezTo>
                    <a:pt x="3901440" y="1548892"/>
                    <a:pt x="3792220" y="1658112"/>
                    <a:pt x="3657600" y="1658112"/>
                  </a:cubicBezTo>
                  <a:lnTo>
                    <a:pt x="243840" y="1658112"/>
                  </a:lnTo>
                  <a:cubicBezTo>
                    <a:pt x="109220" y="1658112"/>
                    <a:pt x="0" y="1548892"/>
                    <a:pt x="0" y="141427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8686800" y="2926080"/>
            <a:ext cx="2926080" cy="1243584"/>
            <a:chOff x="0" y="0"/>
            <a:chExt cx="3901440" cy="165811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901440" cy="1658112"/>
            </a:xfrm>
            <a:custGeom>
              <a:avLst/>
              <a:gdLst/>
              <a:ahLst/>
              <a:cxnLst/>
              <a:rect l="l" t="t" r="r" b="b"/>
              <a:pathLst>
                <a:path w="3901440" h="1658112">
                  <a:moveTo>
                    <a:pt x="0" y="0"/>
                  </a:moveTo>
                  <a:lnTo>
                    <a:pt x="3901440" y="0"/>
                  </a:lnTo>
                  <a:lnTo>
                    <a:pt x="39014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9" r="-4529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390144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Relay: pump and fan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686800" y="4480560"/>
            <a:ext cx="2926080" cy="1243584"/>
            <a:chOff x="0" y="0"/>
            <a:chExt cx="3901440" cy="165811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901440" cy="1658112"/>
            </a:xfrm>
            <a:custGeom>
              <a:avLst/>
              <a:gdLst/>
              <a:ahLst/>
              <a:cxnLst/>
              <a:rect l="l" t="t" r="r" b="b"/>
              <a:pathLst>
                <a:path w="3901440" h="16581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657600" y="0"/>
                  </a:lnTo>
                  <a:cubicBezTo>
                    <a:pt x="3792220" y="0"/>
                    <a:pt x="3901440" y="109220"/>
                    <a:pt x="3901440" y="243840"/>
                  </a:cubicBezTo>
                  <a:lnTo>
                    <a:pt x="3901440" y="1414272"/>
                  </a:lnTo>
                  <a:cubicBezTo>
                    <a:pt x="3901440" y="1548892"/>
                    <a:pt x="3792220" y="1658112"/>
                    <a:pt x="3657600" y="1658112"/>
                  </a:cubicBezTo>
                  <a:lnTo>
                    <a:pt x="243840" y="1658112"/>
                  </a:lnTo>
                  <a:cubicBezTo>
                    <a:pt x="109220" y="1658112"/>
                    <a:pt x="0" y="1548892"/>
                    <a:pt x="0" y="141427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8686800" y="4480560"/>
            <a:ext cx="2926080" cy="1243584"/>
            <a:chOff x="0" y="0"/>
            <a:chExt cx="3901440" cy="165811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901440" cy="1658112"/>
            </a:xfrm>
            <a:custGeom>
              <a:avLst/>
              <a:gdLst/>
              <a:ahLst/>
              <a:cxnLst/>
              <a:rect l="l" t="t" r="r" b="b"/>
              <a:pathLst>
                <a:path w="3901440" h="1658112">
                  <a:moveTo>
                    <a:pt x="0" y="0"/>
                  </a:moveTo>
                  <a:lnTo>
                    <a:pt x="3901440" y="0"/>
                  </a:lnTo>
                  <a:lnTo>
                    <a:pt x="39014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9" r="-4529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390144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TFT display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686800" y="6035040"/>
            <a:ext cx="2926080" cy="1243584"/>
            <a:chOff x="0" y="0"/>
            <a:chExt cx="3901440" cy="165811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901440" cy="1658112"/>
            </a:xfrm>
            <a:custGeom>
              <a:avLst/>
              <a:gdLst/>
              <a:ahLst/>
              <a:cxnLst/>
              <a:rect l="l" t="t" r="r" b="b"/>
              <a:pathLst>
                <a:path w="3901440" h="16581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657600" y="0"/>
                  </a:lnTo>
                  <a:cubicBezTo>
                    <a:pt x="3792220" y="0"/>
                    <a:pt x="3901440" y="109220"/>
                    <a:pt x="3901440" y="243840"/>
                  </a:cubicBezTo>
                  <a:lnTo>
                    <a:pt x="3901440" y="1414272"/>
                  </a:lnTo>
                  <a:cubicBezTo>
                    <a:pt x="3901440" y="1548892"/>
                    <a:pt x="3792220" y="1658112"/>
                    <a:pt x="3657600" y="1658112"/>
                  </a:cubicBezTo>
                  <a:lnTo>
                    <a:pt x="243840" y="1658112"/>
                  </a:lnTo>
                  <a:cubicBezTo>
                    <a:pt x="109220" y="1658112"/>
                    <a:pt x="0" y="1548892"/>
                    <a:pt x="0" y="141427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8686800" y="6035040"/>
            <a:ext cx="2926080" cy="1243584"/>
            <a:chOff x="0" y="0"/>
            <a:chExt cx="3901440" cy="165811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901440" cy="1658112"/>
            </a:xfrm>
            <a:custGeom>
              <a:avLst/>
              <a:gdLst/>
              <a:ahLst/>
              <a:cxnLst/>
              <a:rect l="l" t="t" r="r" b="b"/>
              <a:pathLst>
                <a:path w="3901440" h="1658112">
                  <a:moveTo>
                    <a:pt x="0" y="0"/>
                  </a:moveTo>
                  <a:lnTo>
                    <a:pt x="3901440" y="0"/>
                  </a:lnTo>
                  <a:lnTo>
                    <a:pt x="39014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9" r="-4529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390144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NeoPixel LEDs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686800" y="7589520"/>
            <a:ext cx="2926080" cy="1243584"/>
            <a:chOff x="0" y="0"/>
            <a:chExt cx="3901440" cy="165811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901440" cy="1658112"/>
            </a:xfrm>
            <a:custGeom>
              <a:avLst/>
              <a:gdLst/>
              <a:ahLst/>
              <a:cxnLst/>
              <a:rect l="l" t="t" r="r" b="b"/>
              <a:pathLst>
                <a:path w="3901440" h="16581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657600" y="0"/>
                  </a:lnTo>
                  <a:cubicBezTo>
                    <a:pt x="3792220" y="0"/>
                    <a:pt x="3901440" y="109220"/>
                    <a:pt x="3901440" y="243840"/>
                  </a:cubicBezTo>
                  <a:lnTo>
                    <a:pt x="3901440" y="1414272"/>
                  </a:lnTo>
                  <a:cubicBezTo>
                    <a:pt x="3901440" y="1548892"/>
                    <a:pt x="3792220" y="1658112"/>
                    <a:pt x="3657600" y="1658112"/>
                  </a:cubicBezTo>
                  <a:lnTo>
                    <a:pt x="243840" y="1658112"/>
                  </a:lnTo>
                  <a:cubicBezTo>
                    <a:pt x="109220" y="1658112"/>
                    <a:pt x="0" y="1548892"/>
                    <a:pt x="0" y="141427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8686800" y="7589520"/>
            <a:ext cx="2926080" cy="1243584"/>
            <a:chOff x="0" y="0"/>
            <a:chExt cx="3901440" cy="165811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901440" cy="1658112"/>
            </a:xfrm>
            <a:custGeom>
              <a:avLst/>
              <a:gdLst/>
              <a:ahLst/>
              <a:cxnLst/>
              <a:rect l="l" t="t" r="r" b="b"/>
              <a:pathLst>
                <a:path w="3901440" h="1658112">
                  <a:moveTo>
                    <a:pt x="0" y="0"/>
                  </a:moveTo>
                  <a:lnTo>
                    <a:pt x="3901440" y="0"/>
                  </a:lnTo>
                  <a:lnTo>
                    <a:pt x="390144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29" r="-4529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47625"/>
              <a:ext cx="3901440" cy="1705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Buzzer, Telegram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114800" y="5303520"/>
            <a:ext cx="859536" cy="548640"/>
            <a:chOff x="0" y="0"/>
            <a:chExt cx="1146048" cy="73152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146048" cy="731520"/>
            </a:xfrm>
            <a:custGeom>
              <a:avLst/>
              <a:gdLst/>
              <a:ahLst/>
              <a:cxnLst/>
              <a:rect l="l" t="t" r="r" b="b"/>
              <a:pathLst>
                <a:path w="1146048" h="731520">
                  <a:moveTo>
                    <a:pt x="0" y="182880"/>
                  </a:moveTo>
                  <a:lnTo>
                    <a:pt x="780288" y="182880"/>
                  </a:lnTo>
                  <a:lnTo>
                    <a:pt x="780288" y="0"/>
                  </a:lnTo>
                  <a:lnTo>
                    <a:pt x="1146048" y="365760"/>
                  </a:lnTo>
                  <a:lnTo>
                    <a:pt x="780288" y="731520"/>
                  </a:lnTo>
                  <a:lnTo>
                    <a:pt x="780288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F2B134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8193024" y="5303520"/>
            <a:ext cx="438912" cy="548640"/>
            <a:chOff x="0" y="0"/>
            <a:chExt cx="585216" cy="7315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85216" cy="731520"/>
            </a:xfrm>
            <a:custGeom>
              <a:avLst/>
              <a:gdLst/>
              <a:ahLst/>
              <a:cxnLst/>
              <a:rect l="l" t="t" r="r" b="b"/>
              <a:pathLst>
                <a:path w="585216" h="731520">
                  <a:moveTo>
                    <a:pt x="0" y="182880"/>
                  </a:moveTo>
                  <a:lnTo>
                    <a:pt x="292608" y="182880"/>
                  </a:lnTo>
                  <a:lnTo>
                    <a:pt x="292608" y="0"/>
                  </a:lnTo>
                  <a:lnTo>
                    <a:pt x="585216" y="365760"/>
                  </a:lnTo>
                  <a:lnTo>
                    <a:pt x="292608" y="731520"/>
                  </a:lnTo>
                  <a:lnTo>
                    <a:pt x="292608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F2B134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12233910" y="2175510"/>
            <a:ext cx="4975860" cy="6676644"/>
            <a:chOff x="0" y="0"/>
            <a:chExt cx="6634480" cy="890219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6634480" cy="8902192"/>
            </a:xfrm>
            <a:custGeom>
              <a:avLst/>
              <a:gdLst/>
              <a:ahLst/>
              <a:cxnLst/>
              <a:rect l="l" t="t" r="r" b="b"/>
              <a:pathLst>
                <a:path w="6634480" h="8902192">
                  <a:moveTo>
                    <a:pt x="0" y="294894"/>
                  </a:moveTo>
                  <a:cubicBezTo>
                    <a:pt x="0" y="131953"/>
                    <a:pt x="131953" y="0"/>
                    <a:pt x="294894" y="0"/>
                  </a:cubicBezTo>
                  <a:lnTo>
                    <a:pt x="6339586" y="0"/>
                  </a:lnTo>
                  <a:cubicBezTo>
                    <a:pt x="6502400" y="0"/>
                    <a:pt x="6634480" y="131953"/>
                    <a:pt x="6634480" y="294894"/>
                  </a:cubicBezTo>
                  <a:lnTo>
                    <a:pt x="6634480" y="8607298"/>
                  </a:lnTo>
                  <a:cubicBezTo>
                    <a:pt x="6634480" y="8770112"/>
                    <a:pt x="6502527" y="8902192"/>
                    <a:pt x="6339586" y="8902192"/>
                  </a:cubicBezTo>
                  <a:lnTo>
                    <a:pt x="294894" y="8902192"/>
                  </a:lnTo>
                  <a:cubicBezTo>
                    <a:pt x="131953" y="8902192"/>
                    <a:pt x="0" y="8770239"/>
                    <a:pt x="0" y="8607298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E7266"/>
              </a:solidFill>
              <a:prstDash val="dash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12252960" y="2194560"/>
            <a:ext cx="4937760" cy="6638544"/>
            <a:chOff x="0" y="0"/>
            <a:chExt cx="6583680" cy="885139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6583680" cy="8851392"/>
            </a:xfrm>
            <a:custGeom>
              <a:avLst/>
              <a:gdLst/>
              <a:ahLst/>
              <a:cxnLst/>
              <a:rect l="l" t="t" r="r" b="b"/>
              <a:pathLst>
                <a:path w="6583680" h="8851392">
                  <a:moveTo>
                    <a:pt x="0" y="0"/>
                  </a:moveTo>
                  <a:lnTo>
                    <a:pt x="6583680" y="0"/>
                  </a:lnTo>
                  <a:lnTo>
                    <a:pt x="6583680" y="8851392"/>
                  </a:lnTo>
                  <a:lnTo>
                    <a:pt x="0" y="88513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2497" r="-122497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66675"/>
              <a:ext cx="6583680" cy="89180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i="1">
                  <a:solidFill>
                    <a:srgbClr val="5E72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Space for photo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2252960" y="2194560"/>
            <a:ext cx="4937760" cy="6638544"/>
            <a:chOff x="0" y="0"/>
            <a:chExt cx="6583680" cy="885139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583680" cy="8851392"/>
            </a:xfrm>
            <a:custGeom>
              <a:avLst/>
              <a:gdLst/>
              <a:ahLst/>
              <a:cxnLst/>
              <a:rect l="l" t="t" r="r" b="b"/>
              <a:pathLst>
                <a:path w="6583680" h="8851392">
                  <a:moveTo>
                    <a:pt x="0" y="0"/>
                  </a:moveTo>
                  <a:lnTo>
                    <a:pt x="6583680" y="0"/>
                  </a:lnTo>
                  <a:lnTo>
                    <a:pt x="6583680" y="8851392"/>
                  </a:lnTo>
                  <a:lnTo>
                    <a:pt x="0" y="8851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147" b="-16147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640080"/>
            <a:ext cx="16093440" cy="1280160"/>
            <a:chOff x="0" y="0"/>
            <a:chExt cx="21457920" cy="17068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706880"/>
            </a:xfrm>
            <a:custGeom>
              <a:avLst/>
              <a:gdLst/>
              <a:ahLst/>
              <a:cxnLst/>
              <a:rect l="l" t="t" r="r" b="b"/>
              <a:pathLst>
                <a:path w="21457920" h="170688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4954" b="-19495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F3D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Working Process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97280" y="9471660"/>
            <a:ext cx="731520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E7266"/>
                </a:solidFill>
                <a:latin typeface="Calibri (MS)"/>
                <a:ea typeface="Calibri (MS)"/>
                <a:cs typeface="Calibri (MS)"/>
                <a:sym typeface="Calibri (MS)"/>
              </a:rPr>
              <a:t>AgriTech Innovators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459200" y="9471660"/>
            <a:ext cx="73152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E7266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97280" y="2286000"/>
            <a:ext cx="6766560" cy="6583680"/>
            <a:chOff x="0" y="0"/>
            <a:chExt cx="9022080" cy="87782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22080" cy="8778239"/>
            </a:xfrm>
            <a:custGeom>
              <a:avLst/>
              <a:gdLst/>
              <a:ahLst/>
              <a:cxnLst/>
              <a:rect l="l" t="t" r="r" b="b"/>
              <a:pathLst>
                <a:path w="9022080" h="8778239">
                  <a:moveTo>
                    <a:pt x="0" y="292608"/>
                  </a:moveTo>
                  <a:cubicBezTo>
                    <a:pt x="0" y="130937"/>
                    <a:pt x="130937" y="0"/>
                    <a:pt x="292608" y="0"/>
                  </a:cubicBezTo>
                  <a:lnTo>
                    <a:pt x="8729472" y="0"/>
                  </a:lnTo>
                  <a:cubicBezTo>
                    <a:pt x="8891015" y="0"/>
                    <a:pt x="9022080" y="130937"/>
                    <a:pt x="9022080" y="292608"/>
                  </a:cubicBezTo>
                  <a:lnTo>
                    <a:pt x="9022080" y="8485632"/>
                  </a:lnTo>
                  <a:cubicBezTo>
                    <a:pt x="9022080" y="8647175"/>
                    <a:pt x="8891143" y="8778239"/>
                    <a:pt x="8729472" y="8778239"/>
                  </a:cubicBezTo>
                  <a:lnTo>
                    <a:pt x="292608" y="8778239"/>
                  </a:lnTo>
                  <a:cubicBezTo>
                    <a:pt x="130937" y="8778240"/>
                    <a:pt x="0" y="8647303"/>
                    <a:pt x="0" y="84856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554480" y="2550795"/>
            <a:ext cx="5852160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0F3D2E"/>
                </a:solidFill>
                <a:latin typeface="Cambria Bold"/>
                <a:ea typeface="Cambria Bold"/>
                <a:cs typeface="Cambria Bold"/>
                <a:sym typeface="Cambria Bold"/>
              </a:rPr>
              <a:t>How it works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54480" y="3345180"/>
            <a:ext cx="5943600" cy="3707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Sensors read soil, temperature, humidity and light.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AI on Core 1 predicts crop health.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compares readings with saved limits.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Relay turns the pump or fan ON when needed.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Screen and Telegram show status and alerts.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dirty="0">
                <a:solidFill>
                  <a:srgbClr val="23332B"/>
                </a:solidFill>
                <a:latin typeface="Calibri (MS)"/>
                <a:ea typeface="Calibri (MS)"/>
                <a:cs typeface="Calibri (MS)"/>
                <a:sym typeface="Calibri (MS)"/>
              </a:rPr>
              <a:t>Users can also switch ON or OFF by hand.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412480" y="2286000"/>
            <a:ext cx="8778240" cy="1499616"/>
            <a:chOff x="0" y="0"/>
            <a:chExt cx="11704320" cy="19994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704320" cy="1999488"/>
            </a:xfrm>
            <a:custGeom>
              <a:avLst/>
              <a:gdLst/>
              <a:ahLst/>
              <a:cxnLst/>
              <a:rect l="l" t="t" r="r" b="b"/>
              <a:pathLst>
                <a:path w="11704320" h="199948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1460480" y="0"/>
                  </a:lnTo>
                  <a:cubicBezTo>
                    <a:pt x="11595100" y="0"/>
                    <a:pt x="11704320" y="109220"/>
                    <a:pt x="11704320" y="243840"/>
                  </a:cubicBezTo>
                  <a:lnTo>
                    <a:pt x="11704320" y="1755648"/>
                  </a:lnTo>
                  <a:cubicBezTo>
                    <a:pt x="11704320" y="1890268"/>
                    <a:pt x="11595100" y="1999488"/>
                    <a:pt x="11460480" y="1999488"/>
                  </a:cubicBezTo>
                  <a:lnTo>
                    <a:pt x="243840" y="1999488"/>
                  </a:lnTo>
                  <a:cubicBezTo>
                    <a:pt x="109220" y="1999488"/>
                    <a:pt x="0" y="1890268"/>
                    <a:pt x="0" y="17556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8686800" y="2578608"/>
            <a:ext cx="914400" cy="914400"/>
            <a:chOff x="0" y="0"/>
            <a:chExt cx="1219200" cy="1219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2B134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8686800" y="2578608"/>
            <a:ext cx="914400" cy="914400"/>
            <a:chOff x="0" y="0"/>
            <a:chExt cx="1219200" cy="1219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0F3D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66960" y="2286000"/>
            <a:ext cx="7040880" cy="1499616"/>
            <a:chOff x="0" y="0"/>
            <a:chExt cx="9387840" cy="19994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87840" cy="1999488"/>
            </a:xfrm>
            <a:custGeom>
              <a:avLst/>
              <a:gdLst/>
              <a:ahLst/>
              <a:cxnLst/>
              <a:rect l="l" t="t" r="r" b="b"/>
              <a:pathLst>
                <a:path w="9387840" h="1999488">
                  <a:moveTo>
                    <a:pt x="0" y="0"/>
                  </a:moveTo>
                  <a:lnTo>
                    <a:pt x="9387840" y="0"/>
                  </a:lnTo>
                  <a:lnTo>
                    <a:pt x="93878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484" b="-41484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387840" cy="2037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 b="1">
                  <a:solidFill>
                    <a:srgbClr val="0F3D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If: </a:t>
              </a:r>
              <a:r>
                <a:rPr lang="en-US" sz="2400">
                  <a:solidFill>
                    <a:srgbClr val="2333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soil moisture is below the set limit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 b="1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Then: </a:t>
              </a:r>
              <a:r>
                <a:rPr lang="en-US" sz="2400">
                  <a:solidFill>
                    <a:srgbClr val="2333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pump (motor) turns ON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412480" y="3968496"/>
            <a:ext cx="8778240" cy="1499616"/>
            <a:chOff x="0" y="0"/>
            <a:chExt cx="11704320" cy="19994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704320" cy="1999488"/>
            </a:xfrm>
            <a:custGeom>
              <a:avLst/>
              <a:gdLst/>
              <a:ahLst/>
              <a:cxnLst/>
              <a:rect l="l" t="t" r="r" b="b"/>
              <a:pathLst>
                <a:path w="11704320" h="199948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1460480" y="0"/>
                  </a:lnTo>
                  <a:cubicBezTo>
                    <a:pt x="11595100" y="0"/>
                    <a:pt x="11704320" y="109220"/>
                    <a:pt x="11704320" y="243840"/>
                  </a:cubicBezTo>
                  <a:lnTo>
                    <a:pt x="11704320" y="1755648"/>
                  </a:lnTo>
                  <a:cubicBezTo>
                    <a:pt x="11704320" y="1890268"/>
                    <a:pt x="11595100" y="1999488"/>
                    <a:pt x="11460480" y="1999488"/>
                  </a:cubicBezTo>
                  <a:lnTo>
                    <a:pt x="243840" y="1999488"/>
                  </a:lnTo>
                  <a:cubicBezTo>
                    <a:pt x="109220" y="1999488"/>
                    <a:pt x="0" y="1890268"/>
                    <a:pt x="0" y="17556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8686800" y="4261104"/>
            <a:ext cx="914400" cy="914400"/>
            <a:chOff x="0" y="0"/>
            <a:chExt cx="121920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2B134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8686800" y="4261104"/>
            <a:ext cx="914400" cy="914400"/>
            <a:chOff x="0" y="0"/>
            <a:chExt cx="1219200" cy="1219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0F3D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966960" y="3968496"/>
            <a:ext cx="7040880" cy="1499616"/>
            <a:chOff x="0" y="0"/>
            <a:chExt cx="9387840" cy="199948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387840" cy="1999488"/>
            </a:xfrm>
            <a:custGeom>
              <a:avLst/>
              <a:gdLst/>
              <a:ahLst/>
              <a:cxnLst/>
              <a:rect l="l" t="t" r="r" b="b"/>
              <a:pathLst>
                <a:path w="9387840" h="1999488">
                  <a:moveTo>
                    <a:pt x="0" y="0"/>
                  </a:moveTo>
                  <a:lnTo>
                    <a:pt x="9387840" y="0"/>
                  </a:lnTo>
                  <a:lnTo>
                    <a:pt x="93878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484" b="-41484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9387840" cy="2037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 b="1">
                  <a:solidFill>
                    <a:srgbClr val="0F3D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If: </a:t>
              </a:r>
              <a:r>
                <a:rPr lang="en-US" sz="2400">
                  <a:solidFill>
                    <a:srgbClr val="2333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temperature is above the set limit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 b="1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Then: </a:t>
              </a:r>
              <a:r>
                <a:rPr lang="en-US" sz="2400">
                  <a:solidFill>
                    <a:srgbClr val="2333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cooling fan turns 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412480" y="5650992"/>
            <a:ext cx="8778240" cy="1499616"/>
            <a:chOff x="0" y="0"/>
            <a:chExt cx="11704320" cy="199948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704320" cy="1999488"/>
            </a:xfrm>
            <a:custGeom>
              <a:avLst/>
              <a:gdLst/>
              <a:ahLst/>
              <a:cxnLst/>
              <a:rect l="l" t="t" r="r" b="b"/>
              <a:pathLst>
                <a:path w="11704320" h="199948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1460480" y="0"/>
                  </a:lnTo>
                  <a:cubicBezTo>
                    <a:pt x="11595100" y="0"/>
                    <a:pt x="11704320" y="109220"/>
                    <a:pt x="11704320" y="243840"/>
                  </a:cubicBezTo>
                  <a:lnTo>
                    <a:pt x="11704320" y="1755648"/>
                  </a:lnTo>
                  <a:cubicBezTo>
                    <a:pt x="11704320" y="1890268"/>
                    <a:pt x="11595100" y="1999488"/>
                    <a:pt x="11460480" y="1999488"/>
                  </a:cubicBezTo>
                  <a:lnTo>
                    <a:pt x="243840" y="1999488"/>
                  </a:lnTo>
                  <a:cubicBezTo>
                    <a:pt x="109220" y="1999488"/>
                    <a:pt x="0" y="1890268"/>
                    <a:pt x="0" y="17556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8686800" y="5943600"/>
            <a:ext cx="914400" cy="914400"/>
            <a:chOff x="0" y="0"/>
            <a:chExt cx="1219200" cy="1219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2B134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8686800" y="5943600"/>
            <a:ext cx="914400" cy="914400"/>
            <a:chOff x="0" y="0"/>
            <a:chExt cx="1219200" cy="1219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0F3D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966960" y="5650992"/>
            <a:ext cx="7040880" cy="1499616"/>
            <a:chOff x="0" y="0"/>
            <a:chExt cx="9387840" cy="199948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387840" cy="1999488"/>
            </a:xfrm>
            <a:custGeom>
              <a:avLst/>
              <a:gdLst/>
              <a:ahLst/>
              <a:cxnLst/>
              <a:rect l="l" t="t" r="r" b="b"/>
              <a:pathLst>
                <a:path w="9387840" h="1999488">
                  <a:moveTo>
                    <a:pt x="0" y="0"/>
                  </a:moveTo>
                  <a:lnTo>
                    <a:pt x="9387840" y="0"/>
                  </a:lnTo>
                  <a:lnTo>
                    <a:pt x="93878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484" b="-41484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9387840" cy="2037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 b="1">
                  <a:solidFill>
                    <a:srgbClr val="0F3D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If: </a:t>
              </a:r>
              <a:r>
                <a:rPr lang="en-US" sz="2400">
                  <a:solidFill>
                    <a:srgbClr val="2333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humidity is above 85%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 b="1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Then: </a:t>
              </a:r>
              <a:r>
                <a:rPr lang="en-US" sz="2400">
                  <a:solidFill>
                    <a:srgbClr val="2333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cooling fan turns 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412480" y="7333488"/>
            <a:ext cx="8778240" cy="1499616"/>
            <a:chOff x="0" y="0"/>
            <a:chExt cx="11704320" cy="199948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704320" cy="1999488"/>
            </a:xfrm>
            <a:custGeom>
              <a:avLst/>
              <a:gdLst/>
              <a:ahLst/>
              <a:cxnLst/>
              <a:rect l="l" t="t" r="r" b="b"/>
              <a:pathLst>
                <a:path w="11704320" h="199948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1460480" y="0"/>
                  </a:lnTo>
                  <a:cubicBezTo>
                    <a:pt x="11595100" y="0"/>
                    <a:pt x="11704320" y="109220"/>
                    <a:pt x="11704320" y="243840"/>
                  </a:cubicBezTo>
                  <a:lnTo>
                    <a:pt x="11704320" y="1755648"/>
                  </a:lnTo>
                  <a:cubicBezTo>
                    <a:pt x="11704320" y="1890268"/>
                    <a:pt x="11595100" y="1999488"/>
                    <a:pt x="11460480" y="1999488"/>
                  </a:cubicBezTo>
                  <a:lnTo>
                    <a:pt x="243840" y="1999488"/>
                  </a:lnTo>
                  <a:cubicBezTo>
                    <a:pt x="109220" y="1999488"/>
                    <a:pt x="0" y="1890268"/>
                    <a:pt x="0" y="17556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8686800" y="7626096"/>
            <a:ext cx="914400" cy="914400"/>
            <a:chOff x="0" y="0"/>
            <a:chExt cx="1219200" cy="1219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2B134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8686800" y="7626096"/>
            <a:ext cx="914400" cy="914400"/>
            <a:chOff x="0" y="0"/>
            <a:chExt cx="1219200" cy="12192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0F3D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966960" y="7333488"/>
            <a:ext cx="7040880" cy="1499616"/>
            <a:chOff x="0" y="0"/>
            <a:chExt cx="9387840" cy="199948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387840" cy="1999488"/>
            </a:xfrm>
            <a:custGeom>
              <a:avLst/>
              <a:gdLst/>
              <a:ahLst/>
              <a:cxnLst/>
              <a:rect l="l" t="t" r="r" b="b"/>
              <a:pathLst>
                <a:path w="9387840" h="1999488">
                  <a:moveTo>
                    <a:pt x="0" y="0"/>
                  </a:moveTo>
                  <a:lnTo>
                    <a:pt x="9387840" y="0"/>
                  </a:lnTo>
                  <a:lnTo>
                    <a:pt x="93878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484" b="-41484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9387840" cy="2037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 b="1">
                  <a:solidFill>
                    <a:srgbClr val="0F3D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If: </a:t>
              </a:r>
              <a:r>
                <a:rPr lang="en-US" sz="2400">
                  <a:solidFill>
                    <a:srgbClr val="2333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finds disease risk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 b="1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Then: </a:t>
              </a:r>
              <a:r>
                <a:rPr lang="en-US" sz="2400">
                  <a:solidFill>
                    <a:srgbClr val="2333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 by Telegram, LED and buzzer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7280" y="721995"/>
            <a:ext cx="14630400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Problems Faced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97280" y="2377440"/>
            <a:ext cx="16093440" cy="6390711"/>
            <a:chOff x="0" y="0"/>
            <a:chExt cx="21457920" cy="85209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457921" cy="8520948"/>
            </a:xfrm>
            <a:custGeom>
              <a:avLst/>
              <a:gdLst/>
              <a:ahLst/>
              <a:cxnLst/>
              <a:rect l="l" t="t" r="r" b="b"/>
              <a:pathLst>
                <a:path w="21457921" h="8520948">
                  <a:moveTo>
                    <a:pt x="0" y="292147"/>
                  </a:moveTo>
                  <a:cubicBezTo>
                    <a:pt x="0" y="130857"/>
                    <a:pt x="131064" y="0"/>
                    <a:pt x="292608" y="0"/>
                  </a:cubicBezTo>
                  <a:lnTo>
                    <a:pt x="21165313" y="0"/>
                  </a:lnTo>
                  <a:cubicBezTo>
                    <a:pt x="21326983" y="0"/>
                    <a:pt x="21457921" y="130857"/>
                    <a:pt x="21457921" y="292147"/>
                  </a:cubicBezTo>
                  <a:lnTo>
                    <a:pt x="21457921" y="8228802"/>
                  </a:lnTo>
                  <a:cubicBezTo>
                    <a:pt x="21457921" y="8390218"/>
                    <a:pt x="21326856" y="8520948"/>
                    <a:pt x="21165313" y="8520948"/>
                  </a:cubicBezTo>
                  <a:lnTo>
                    <a:pt x="292608" y="8520948"/>
                  </a:lnTo>
                  <a:cubicBezTo>
                    <a:pt x="131064" y="8520948"/>
                    <a:pt x="0" y="8390091"/>
                    <a:pt x="0" y="822880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737360" y="2606403"/>
            <a:ext cx="14813280" cy="6380622"/>
            <a:chOff x="0" y="0"/>
            <a:chExt cx="19751040" cy="85074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751039" cy="8507497"/>
            </a:xfrm>
            <a:custGeom>
              <a:avLst/>
              <a:gdLst/>
              <a:ahLst/>
              <a:cxnLst/>
              <a:rect l="l" t="t" r="r" b="b"/>
              <a:pathLst>
                <a:path w="19751039" h="8507497">
                  <a:moveTo>
                    <a:pt x="0" y="0"/>
                  </a:moveTo>
                  <a:lnTo>
                    <a:pt x="19751039" y="0"/>
                  </a:lnTo>
                  <a:lnTo>
                    <a:pt x="19751039" y="8507497"/>
                  </a:lnTo>
                  <a:lnTo>
                    <a:pt x="0" y="85074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0" b="1033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9751040" cy="85646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90881" lvl="1" indent="-345440" algn="l">
                <a:lnSpc>
                  <a:spcPts val="3840"/>
                </a:lnSpc>
                <a:buFont typeface="Arial"/>
                <a:buChar char="•"/>
              </a:pPr>
              <a:r>
                <a:rPr lang="en-US" sz="3200" b="1">
                  <a:solidFill>
                    <a:srgbClr val="2333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Multi-Core Race Conditions: </a:t>
              </a:r>
              <a:r>
                <a:rPr lang="en-US" sz="3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sharing between ESP32 cores caused crashes; solved using mutex locks.</a:t>
              </a:r>
            </a:p>
            <a:p>
              <a:pPr marL="690881" lvl="1" indent="-345440" algn="l">
                <a:lnSpc>
                  <a:spcPts val="3840"/>
                </a:lnSpc>
                <a:buFont typeface="Arial"/>
                <a:buChar char="•"/>
              </a:pPr>
              <a:r>
                <a:rPr lang="en-US" sz="3200" b="1">
                  <a:solidFill>
                    <a:srgbClr val="2333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Memory Limitations:</a:t>
              </a:r>
              <a:r>
                <a:rPr lang="en-US" sz="3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ML inference required careful SRAM optimization to prevent stack overflow.</a:t>
              </a:r>
            </a:p>
            <a:p>
              <a:pPr marL="690881" lvl="1" indent="-345440" algn="l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3200" b="1">
                  <a:solidFill>
                    <a:srgbClr val="2333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Voltage Spikes:</a:t>
              </a:r>
              <a:r>
                <a:rPr lang="en-US" sz="3200">
                  <a:solidFill>
                    <a:srgbClr val="2333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3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Relay switching caused electrical noise and reboots; optocouplers were used for isolation.</a:t>
              </a:r>
            </a:p>
            <a:p>
              <a:pPr marL="690881" lvl="1" indent="-345440" algn="l">
                <a:lnSpc>
                  <a:spcPts val="3840"/>
                </a:lnSpc>
                <a:buFont typeface="Arial"/>
                <a:buChar char="•"/>
              </a:pPr>
              <a:r>
                <a:rPr lang="en-US" sz="3200" b="1">
                  <a:solidFill>
                    <a:srgbClr val="2333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Sensor Noise &amp; Calibration:</a:t>
              </a:r>
              <a:r>
                <a:rPr lang="en-US" sz="3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3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Soil moisture and DHT22 sensors needed filtering and             threshold tuning to reduce false alerts.</a:t>
              </a:r>
            </a:p>
            <a:p>
              <a:pPr marL="690881" lvl="1" indent="-345440" algn="l">
                <a:lnSpc>
                  <a:spcPts val="3840"/>
                </a:lnSpc>
                <a:buFont typeface="Arial"/>
                <a:buChar char="•"/>
              </a:pPr>
              <a:r>
                <a:rPr lang="en-US" sz="3200" b="1">
                  <a:solidFill>
                    <a:srgbClr val="2333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UI Responsiveness:</a:t>
              </a:r>
              <a:r>
                <a:rPr lang="en-US" sz="3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TFT display and joystick inputs required optimized polling and deadzone tuning to avoid lag.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7280" y="721995"/>
            <a:ext cx="14630400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Conclusion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97280" y="2377440"/>
            <a:ext cx="16093440" cy="6400800"/>
            <a:chOff x="0" y="0"/>
            <a:chExt cx="21457920" cy="8534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457921" cy="8534400"/>
            </a:xfrm>
            <a:custGeom>
              <a:avLst/>
              <a:gdLst/>
              <a:ahLst/>
              <a:cxnLst/>
              <a:rect l="l" t="t" r="r" b="b"/>
              <a:pathLst>
                <a:path w="21457921" h="85344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1165313" y="0"/>
                  </a:lnTo>
                  <a:cubicBezTo>
                    <a:pt x="21326983" y="0"/>
                    <a:pt x="21457921" y="131064"/>
                    <a:pt x="21457921" y="292608"/>
                  </a:cubicBezTo>
                  <a:lnTo>
                    <a:pt x="21457921" y="8241792"/>
                  </a:lnTo>
                  <a:cubicBezTo>
                    <a:pt x="21457921" y="8403463"/>
                    <a:pt x="21326856" y="8534400"/>
                    <a:pt x="21165313" y="8534400"/>
                  </a:cubicBezTo>
                  <a:lnTo>
                    <a:pt x="292608" y="8534400"/>
                  </a:lnTo>
                  <a:cubicBezTo>
                    <a:pt x="131064" y="8534400"/>
                    <a:pt x="0" y="8403336"/>
                    <a:pt x="0" y="8241792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737360" y="2743200"/>
            <a:ext cx="14813280" cy="5669280"/>
            <a:chOff x="0" y="0"/>
            <a:chExt cx="19751040" cy="7559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751039" cy="7559040"/>
            </a:xfrm>
            <a:custGeom>
              <a:avLst/>
              <a:gdLst/>
              <a:ahLst/>
              <a:cxnLst/>
              <a:rect l="l" t="t" r="r" b="b"/>
              <a:pathLst>
                <a:path w="19751039" h="7559040">
                  <a:moveTo>
                    <a:pt x="0" y="0"/>
                  </a:moveTo>
                  <a:lnTo>
                    <a:pt x="19751039" y="0"/>
                  </a:lnTo>
                  <a:lnTo>
                    <a:pt x="19751039" y="7559040"/>
                  </a:lnTo>
                  <a:lnTo>
                    <a:pt x="0" y="755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2" b="-91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9751040" cy="7616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772161" lvl="1" indent="-386080" algn="l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smart farming system built on ESP32.</a:t>
              </a:r>
            </a:p>
            <a:p>
              <a:pPr marL="772161" lvl="1" indent="-386080" algn="l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Waters crops only when the soil is dry.</a:t>
              </a:r>
            </a:p>
            <a:p>
              <a:pPr marL="772161" lvl="1" indent="-386080" algn="l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Fan turns ON to protect crops from heat and humidity.</a:t>
              </a:r>
            </a:p>
            <a:p>
              <a:pPr marL="772161" lvl="1" indent="-386080" algn="l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finds disease risk early, so farmers can act in time.</a:t>
              </a:r>
            </a:p>
            <a:p>
              <a:pPr marL="772161" lvl="1" indent="-386080" algn="l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 from Telegram or the local screen.</a:t>
              </a:r>
            </a:p>
            <a:p>
              <a:pPr marL="772161" lvl="1" indent="-386080" algn="l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Helps small farms save water and work.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43200" y="5120640"/>
            <a:ext cx="9144000" cy="9144000"/>
            <a:chOff x="0" y="0"/>
            <a:chExt cx="12192000" cy="12192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12192000"/>
            </a:xfrm>
            <a:custGeom>
              <a:avLst/>
              <a:gdLst/>
              <a:ahLst/>
              <a:cxnLst/>
              <a:rect l="l" t="t" r="r" b="b"/>
              <a:pathLst>
                <a:path w="12192000" h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350240" y="-1828800"/>
            <a:ext cx="6583680" cy="6583680"/>
            <a:chOff x="0" y="0"/>
            <a:chExt cx="8778240" cy="8778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778240" cy="8778240"/>
            </a:xfrm>
            <a:custGeom>
              <a:avLst/>
              <a:gdLst/>
              <a:ahLst/>
              <a:cxnLst/>
              <a:rect l="l" t="t" r="r" b="b"/>
              <a:pathLst>
                <a:path w="8778240" h="8778240">
                  <a:moveTo>
                    <a:pt x="0" y="4389120"/>
                  </a:moveTo>
                  <a:cubicBezTo>
                    <a:pt x="0" y="1965071"/>
                    <a:pt x="1965071" y="0"/>
                    <a:pt x="4389120" y="0"/>
                  </a:cubicBezTo>
                  <a:cubicBezTo>
                    <a:pt x="6813169" y="0"/>
                    <a:pt x="8778240" y="1965071"/>
                    <a:pt x="8778240" y="4389120"/>
                  </a:cubicBezTo>
                  <a:cubicBezTo>
                    <a:pt x="8778240" y="6813169"/>
                    <a:pt x="6813169" y="8778240"/>
                    <a:pt x="4389120" y="8778240"/>
                  </a:cubicBezTo>
                  <a:cubicBezTo>
                    <a:pt x="1965072" y="8778240"/>
                    <a:pt x="0" y="6813169"/>
                    <a:pt x="0" y="4389120"/>
                  </a:cubicBezTo>
                  <a:close/>
                </a:path>
              </a:pathLst>
            </a:custGeom>
            <a:solidFill>
              <a:srgbClr val="9BD77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97280" y="3089910"/>
            <a:ext cx="16093440" cy="184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108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7280" y="5126355"/>
            <a:ext cx="1609344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F2B134"/>
                </a:solidFill>
                <a:latin typeface="Calibri (MS)"/>
                <a:ea typeface="Calibri (MS)"/>
                <a:cs typeface="Calibri (MS)"/>
                <a:sym typeface="Calibri (MS)"/>
              </a:rPr>
              <a:t>Questions &amp; Discussion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7280" y="6699885"/>
            <a:ext cx="16093440" cy="798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9BD770"/>
                </a:solidFill>
                <a:latin typeface="Calibri (MS)"/>
                <a:ea typeface="Calibri (MS)"/>
                <a:cs typeface="Calibri (MS)"/>
                <a:sym typeface="Calibri (MS)"/>
              </a:rPr>
              <a:t>Team AgriTech Innovators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823</Words>
  <Application>Microsoft Office PowerPoint</Application>
  <PresentationFormat>Custom</PresentationFormat>
  <Paragraphs>202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Cambria Bold</vt:lpstr>
      <vt:lpstr>Calibri (MS) Bold</vt:lpstr>
      <vt:lpstr>Calibri (MS) Italics</vt:lpstr>
      <vt:lpstr>Arial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AgriTech_Presentation-1.pptx</dc:title>
  <cp:lastModifiedBy>Fahim Muntasir</cp:lastModifiedBy>
  <cp:revision>2</cp:revision>
  <dcterms:created xsi:type="dcterms:W3CDTF">2006-08-16T00:00:00Z</dcterms:created>
  <dcterms:modified xsi:type="dcterms:W3CDTF">2026-09-28T19:06:54Z</dcterms:modified>
  <dc:identifier>DAHWfFZvs0o</dc:identifier>
</cp:coreProperties>
</file>